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6" r:id="rId21"/>
    <p:sldId id="260" r:id="rId10"/>
    <p:sldId id="267" r:id="rId22"/>
    <p:sldId id="261" r:id="rId11"/>
    <p:sldId id="262" r:id="rId12"/>
    <p:sldId id="263" r:id="rId13"/>
    <p:sldId id="268" r:id="rId23"/>
    <p:sldId id="269" r:id="rId24"/>
    <p:sldId id="270" r:id="rId25"/>
    <p:sldId id="264" r:id="rId14"/>
    <p:sldId id="271" r:id="rId26"/>
    <p:sldId id="265" r:id="rId15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</p:sldIdLst>
  <p:sldSz cx="18288000" cy="10287000"/>
  <p:notesSz cx="6858000" cy="9144000"/>
  <p:embeddedFontLst>
    <p:embeddedFont>
      <p:font typeface="Source Sans 3 Bold" charset="1" panose="020B0303030403020204"/>
      <p:regular r:id="rId16"/>
    </p:embeddedFont>
    <p:embeddedFont>
      <p:font typeface="IBM Plex Sans Bold" charset="1" panose="020B0803050203000203"/>
      <p:regular r:id="rId17"/>
    </p:embeddedFont>
    <p:embeddedFont>
      <p:font typeface="Source Sans 3" charset="1" panose="020B0303030403020204"/>
      <p:regular r:id="rId18"/>
    </p:embeddedFont>
    <p:embeddedFont>
      <p:font typeface="IBM Plex Mono Bold" charset="1" panose="020B0809050203000203"/>
      <p:regular r:id="rId19"/>
    </p:embeddedFont>
    <p:embeddedFont>
      <p:font typeface="IBM Plex Mono" charset="1" panose="020B050905020300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02A43"/>
                </a:solidFill>
                <a:latin typeface="Source Sans 3 Bold"/>
              </a:rPr>
              <a:t>Short chats · p99 TTFT (s)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 chats · p99 TTFT (s)</c:v>
                </c:pt>
              </c:strCache>
            </c:strRef>
          </c:tx>
          <c:dPt>
            <c:idx val="0"/>
            <c:spPr>
              <a:solidFill>
                <a:srgbClr val="0F7C82"/>
              </a:solidFill>
            </c:spPr>
          </c:dPt>
          <c:dPt>
            <c:idx val="1"/>
            <c:spPr>
              <a:solidFill>
                <a:srgbClr val="D69E2E"/>
              </a:solidFill>
            </c:spPr>
          </c:dPt>
          <c:dPt>
            <c:idx val="2"/>
            <c:spPr>
              <a:solidFill>
                <a:srgbClr val="32B6C5"/>
              </a:solidFill>
            </c:spPr>
          </c:dPt>
          <c:dPt>
            <c:idx val="3"/>
            <c:spPr>
              <a:solidFill>
                <a:srgbClr val="102A43"/>
              </a:solidFill>
            </c:spPr>
          </c:dPt>
          <c:dPt>
            <c:idx val="4"/>
            <c:spPr>
              <a:solidFill>
                <a:srgbClr val="9FB3C8"/>
              </a:solidFill>
            </c:spPr>
          </c:dPt>
          <c:cat>
            <c:strRef>
              <c:f>Sheet1!$A$2:$A$6</c:f>
              <c:strCache>
                <c:ptCount val="5"/>
                <c:pt idx="0">
                  <c:v>DMFQ-A</c:v>
                </c:pt>
                <c:pt idx="1">
                  <c:v>Aging MLFQ</c:v>
                </c:pt>
                <c:pt idx="2">
                  <c:v>Dynamic MLFQ</c:v>
                </c:pt>
                <c:pt idx="3">
                  <c:v>MLFQ</c:v>
                </c:pt>
                <c:pt idx="4">
                  <c:v>FCFS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0.07129578274391553</c:v>
                </c:pt>
                <c:pt idx="1">
                  <c:v>0.07247927973062238</c:v>
                </c:pt>
                <c:pt idx="2">
                  <c:v>0.07208491979620718</c:v>
                </c:pt>
                <c:pt idx="3">
                  <c:v>0.0724200856441788</c:v>
                </c:pt>
                <c:pt idx="4">
                  <c:v>7.852928672530011</c:v>
                </c:pt>
              </c:numCache>
            </c:numRef>
          </c:val>
        </c:ser>
        <c:dLbls>
          <c:numFmt formatCode="0.00&quot; s&quot;" sourceLinked="0"/>
          <c:txPr>
            <a:bodyPr/>
            <a:lstStyle/>
            <a:p>
              <a:pPr>
                <a:defRPr sz="1500">
                  <a:solidFill>
                    <a:srgbClr val="102A43"/>
                  </a:solidFill>
                  <a:latin typeface="Source Sans 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243B53"/>
                </a:solidFill>
                <a:latin typeface="Source Sans 3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51748700838415"/>
          <c:min val="0.0"/>
        </c:scaling>
        <c:delete val="0"/>
        <c:axPos val="b"/>
        <c:majorGridlines>
          <c:spPr>
            <a:ln w="9525">
              <a:solidFill>
                <a:srgbClr val="D8E2E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43B53"/>
          </a:solidFill>
          <a:latin typeface="Source Sans 3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02A43"/>
                </a:solidFill>
                <a:latin typeface="Source Sans 3 Bold"/>
              </a:rPr>
              <a:t>Long generations · p99 latency (s)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 generations · p99 latency (s)</c:v>
                </c:pt>
              </c:strCache>
            </c:strRef>
          </c:tx>
          <c:dPt>
            <c:idx val="0"/>
            <c:spPr>
              <a:solidFill>
                <a:srgbClr val="0F7C82"/>
              </a:solidFill>
            </c:spPr>
          </c:dPt>
          <c:dPt>
            <c:idx val="1"/>
            <c:spPr>
              <a:solidFill>
                <a:srgbClr val="D69E2E"/>
              </a:solidFill>
            </c:spPr>
          </c:dPt>
          <c:dPt>
            <c:idx val="2"/>
            <c:spPr>
              <a:solidFill>
                <a:srgbClr val="32B6C5"/>
              </a:solidFill>
            </c:spPr>
          </c:dPt>
          <c:dPt>
            <c:idx val="3"/>
            <c:spPr>
              <a:solidFill>
                <a:srgbClr val="102A43"/>
              </a:solidFill>
            </c:spPr>
          </c:dPt>
          <c:dPt>
            <c:idx val="4"/>
            <c:spPr>
              <a:solidFill>
                <a:srgbClr val="9FB3C8"/>
              </a:solidFill>
            </c:spPr>
          </c:dPt>
          <c:cat>
            <c:strRef>
              <c:f>Sheet1!$A$2:$A$6</c:f>
              <c:strCache>
                <c:ptCount val="5"/>
                <c:pt idx="0">
                  <c:v>DMFQ-A</c:v>
                </c:pt>
                <c:pt idx="1">
                  <c:v>Aging MLFQ</c:v>
                </c:pt>
                <c:pt idx="2">
                  <c:v>Dynamic MLFQ</c:v>
                </c:pt>
                <c:pt idx="3">
                  <c:v>MLFQ</c:v>
                </c:pt>
                <c:pt idx="4">
                  <c:v>FCFS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58.7558407350824</c:v>
                </c:pt>
                <c:pt idx="1">
                  <c:v>62.06892281527987</c:v>
                </c:pt>
                <c:pt idx="2">
                  <c:v>58.22658266772667</c:v>
                </c:pt>
                <c:pt idx="3">
                  <c:v>61.89110209522859</c:v>
                </c:pt>
                <c:pt idx="4">
                  <c:v>41.84331136246388</c:v>
                </c:pt>
              </c:numCache>
            </c:numRef>
          </c:val>
        </c:ser>
        <c:dLbls>
          <c:numFmt formatCode="0.0&quot; s&quot;" sourceLinked="0"/>
          <c:txPr>
            <a:bodyPr/>
            <a:lstStyle/>
            <a:p>
              <a:pPr>
                <a:defRPr sz="1500">
                  <a:solidFill>
                    <a:srgbClr val="102A43"/>
                  </a:solidFill>
                  <a:latin typeface="Source Sans 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243B53"/>
                </a:solidFill>
                <a:latin typeface="Source Sans 3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9.44822120355823"/>
          <c:min val="0.0"/>
        </c:scaling>
        <c:delete val="0"/>
        <c:axPos val="b"/>
        <c:majorGridlines>
          <c:spPr>
            <a:ln w="9525">
              <a:solidFill>
                <a:srgbClr val="D8E2E8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43B53"/>
          </a:solidFill>
          <a:latin typeface="Source Sans 3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ln w="47625">
              <a:noFill/>
            </a:ln>
          </c:spPr>
          <c:marker>
            <c:symbol val="square"/>
            <c:size val="13"/>
            <c:spPr>
              <a:solidFill>
                <a:srgbClr val="9FB3C8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0">
                        <a:solidFill>
                          <a:srgbClr val="102A43"/>
                        </a:solidFill>
                        <a:latin typeface="Source Sans 3"/>
                      </a:rPr>
                      <a:t>FCFS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8.582242467978336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MLFQ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3"/>
            <c:spPr>
              <a:solidFill>
                <a:srgbClr val="102A43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0">
                        <a:solidFill>
                          <a:srgbClr val="102A43"/>
                        </a:solidFill>
                        <a:latin typeface="Source Sans 3"/>
                      </a:rPr>
                      <a:t>MLFQ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Sheet1!$A$5:$A$5</c:f>
              <c:numCache>
                <c:formatCode>General</c:formatCode>
                <c:ptCount val="1"/>
                <c:pt idx="0">
                  <c:v>3247.0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2.5788263999988383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Dynamic MLFQ</c:v>
                </c:pt>
              </c:strCache>
            </c:strRef>
          </c:tx>
          <c:spPr>
            <a:ln w="47625">
              <a:noFill/>
            </a:ln>
          </c:spPr>
          <c:marker>
            <c:symbol val="triangle"/>
            <c:size val="13"/>
            <c:spPr>
              <a:solidFill>
                <a:srgbClr val="32B6C5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0">
                        <a:solidFill>
                          <a:srgbClr val="102A43"/>
                        </a:solidFill>
                        <a:latin typeface="Source Sans 3"/>
                      </a:rPr>
                      <a:t>Dynamic MLFQ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Sheet1!$A$8:$A$8</c:f>
              <c:numCache>
                <c:formatCode>General</c:formatCode>
                <c:ptCount val="1"/>
                <c:pt idx="0">
                  <c:v>2167.6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4.3491615999977045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Aging MLFQ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13"/>
            <c:spPr>
              <a:solidFill>
                <a:srgbClr val="D69E2E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0">
                        <a:solidFill>
                          <a:srgbClr val="102A43"/>
                        </a:solidFill>
                        <a:latin typeface="Source Sans 3"/>
                      </a:rPr>
                      <a:t>Aging MLFQ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Sheet1!$A$11:$A$11</c:f>
              <c:numCache>
                <c:formatCode>General</c:formatCode>
                <c:ptCount val="1"/>
                <c:pt idx="0">
                  <c:v>3255.4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2.3617471999989355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DMFQ-A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7"/>
            <c:spPr>
              <a:solidFill>
                <a:srgbClr val="0F7C82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102A43"/>
                        </a:solidFill>
                        <a:latin typeface="Source Sans 3 Bold"/>
                      </a:rPr>
                      <a:t>DMFQ-A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Sheet1!$A$14:$A$14</c:f>
              <c:numCache>
                <c:formatCode>General</c:formatCode>
                <c:ptCount val="1"/>
                <c:pt idx="0">
                  <c:v>2289.6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2.9432823999989517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in val="0.0"/>
        </c:scaling>
        <c:delete val="0"/>
        <c:axPos val="b"/>
        <c:majorGridlines>
          <c:spPr>
            <a:ln w="9525">
              <a:solidFill>
                <a:srgbClr val="D8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600" b="0">
                    <a:solidFill>
                      <a:srgbClr val="243B53"/>
                    </a:solidFill>
                    <a:latin typeface="Source Sans 3"/>
                  </a:rPr>
                  <a:t>preemptions per 1,500 requests (KV-cache swaps)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.0"/>
        </c:scaling>
        <c:delete val="0"/>
        <c:axPos val="l"/>
        <c:majorGridlines>
          <c:spPr>
            <a:ln w="9525">
              <a:solidFill>
                <a:srgbClr val="D8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600" b="0">
                    <a:solidFill>
                      <a:srgbClr val="243B53"/>
                    </a:solidFill>
                    <a:latin typeface="Source Sans 3"/>
                  </a:rPr>
                  <a:t>longest stall of a long request (s)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500">
          <a:solidFill>
            <a:srgbClr val="243B53"/>
          </a:solidFill>
          <a:latin typeface="Source Sans 3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02A43"/>
                </a:solidFill>
                <a:latin typeface="Source Sans 3 Bold"/>
              </a:rPr>
              <a:t>Longest stall of a long request (s)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ln w="28575">
              <a:solidFill>
                <a:srgbClr val="9FB3C8"/>
              </a:solidFill>
            </a:ln>
          </c:spPr>
          <c:marker>
            <c:symbol val="square"/>
            <c:size val="7"/>
            <c:spPr>
              <a:solidFill>
                <a:srgbClr val="9FB3C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1.4219810909749124</c:v>
                </c:pt>
                <c:pt idx="1">
                  <c:v>3.3317366029985833</c:v>
                </c:pt>
                <c:pt idx="2">
                  <c:v>5.191988830131548</c:v>
                </c:pt>
                <c:pt idx="3">
                  <c:v>8.582242467978336</c:v>
                </c:pt>
                <c:pt idx="4">
                  <c:v>16.11595898597007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</c:v>
                </c:pt>
              </c:strCache>
            </c:strRef>
          </c:tx>
          <c:spPr>
            <a:ln w="28575">
              <a:solidFill>
                <a:srgbClr val="102A43"/>
              </a:solidFill>
            </a:ln>
          </c:spPr>
          <c:marker>
            <c:symbol val="circle"/>
            <c:size val="7"/>
            <c:spPr>
              <a:solidFill>
                <a:srgbClr val="102A43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0.6741631999993929</c:v>
                </c:pt>
                <c:pt idx="1">
                  <c:v>0.9693799999995157</c:v>
                </c:pt>
                <c:pt idx="2">
                  <c:v>1.3005951999991086</c:v>
                </c:pt>
                <c:pt idx="3">
                  <c:v>2.5788263999988383</c:v>
                </c:pt>
                <c:pt idx="4">
                  <c:v>5.359209599997709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Dynamic MLFQ</c:v>
                </c:pt>
              </c:strCache>
            </c:strRef>
          </c:tx>
          <c:spPr>
            <a:ln w="28575">
              <a:solidFill>
                <a:srgbClr val="32B6C5"/>
              </a:solidFill>
            </a:ln>
          </c:spPr>
          <c:marker>
            <c:symbol val="triangle"/>
            <c:size val="7"/>
            <c:spPr>
              <a:solidFill>
                <a:srgbClr val="32B6C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0.8432991999992752</c:v>
                </c:pt>
                <c:pt idx="1">
                  <c:v>1.3263167999989935</c:v>
                </c:pt>
                <c:pt idx="2">
                  <c:v>2.4067951999979793</c:v>
                </c:pt>
                <c:pt idx="3">
                  <c:v>4.3491615999977045</c:v>
                </c:pt>
                <c:pt idx="4">
                  <c:v>8.302282399997214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Aging MLFQ</c:v>
                </c:pt>
              </c:strCache>
            </c:strRef>
          </c:tx>
          <c:spPr>
            <a:ln w="28575">
              <a:solidFill>
                <a:srgbClr val="D69E2E"/>
              </a:solidFill>
            </a:ln>
          </c:spPr>
          <c:marker>
            <c:symbol val="diamond"/>
            <c:size val="7"/>
            <c:spPr>
              <a:solidFill>
                <a:srgbClr val="D69E2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0.6741631999993929</c:v>
                </c:pt>
                <c:pt idx="1">
                  <c:v>0.9693799999995157</c:v>
                </c:pt>
                <c:pt idx="2">
                  <c:v>1.3005951999991086</c:v>
                </c:pt>
                <c:pt idx="3">
                  <c:v>2.3617471999989355</c:v>
                </c:pt>
                <c:pt idx="4">
                  <c:v>3.612931999998743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DMFQ-A</c:v>
                </c:pt>
              </c:strCache>
            </c:strRef>
          </c:tx>
          <c:spPr>
            <a:ln w="44450">
              <a:solidFill>
                <a:srgbClr val="0F7C82"/>
              </a:solidFill>
            </a:ln>
          </c:spPr>
          <c:marker>
            <c:symbol val="circle"/>
            <c:size val="9"/>
            <c:spPr>
              <a:solidFill>
                <a:srgbClr val="0F7C8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0.8432991999992752</c:v>
                </c:pt>
                <c:pt idx="1">
                  <c:v>1.3263167999989935</c:v>
                </c:pt>
                <c:pt idx="2">
                  <c:v>2.359410399997979</c:v>
                </c:pt>
                <c:pt idx="3">
                  <c:v>2.9432823999989517</c:v>
                </c:pt>
                <c:pt idx="4">
                  <c:v>4.204389599999006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8E2E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243B5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500">
          <a:solidFill>
            <a:srgbClr val="243B53"/>
          </a:solidFill>
          <a:latin typeface="Source Sans 3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02A43"/>
                </a:solidFill>
                <a:latin typeface="Source Sans 3 Bold"/>
              </a:rPr>
              <a:t>Preemptions (KV-cache swaps)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ln w="28575">
              <a:solidFill>
                <a:srgbClr val="9FB3C8"/>
              </a:solidFill>
            </a:ln>
          </c:spPr>
          <c:marker>
            <c:symbol val="square"/>
            <c:size val="7"/>
            <c:spPr>
              <a:solidFill>
                <a:srgbClr val="9FB3C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</c:v>
                </c:pt>
              </c:strCache>
            </c:strRef>
          </c:tx>
          <c:spPr>
            <a:ln w="28575">
              <a:solidFill>
                <a:srgbClr val="102A43"/>
              </a:solidFill>
            </a:ln>
          </c:spPr>
          <c:marker>
            <c:symbol val="circle"/>
            <c:size val="7"/>
            <c:spPr>
              <a:solidFill>
                <a:srgbClr val="102A43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150.0</c:v>
                </c:pt>
                <c:pt idx="1">
                  <c:v>434.6</c:v>
                </c:pt>
                <c:pt idx="2">
                  <c:v>1377.8</c:v>
                </c:pt>
                <c:pt idx="3">
                  <c:v>3247.0</c:v>
                </c:pt>
                <c:pt idx="4">
                  <c:v>6134.0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Dynamic MLFQ</c:v>
                </c:pt>
              </c:strCache>
            </c:strRef>
          </c:tx>
          <c:spPr>
            <a:ln w="28575">
              <a:solidFill>
                <a:srgbClr val="32B6C5"/>
              </a:solidFill>
            </a:ln>
          </c:spPr>
          <c:marker>
            <c:symbol val="triangle"/>
            <c:size val="7"/>
            <c:spPr>
              <a:solidFill>
                <a:srgbClr val="32B6C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128.4</c:v>
                </c:pt>
                <c:pt idx="1">
                  <c:v>341.8</c:v>
                </c:pt>
                <c:pt idx="2">
                  <c:v>1021.8</c:v>
                </c:pt>
                <c:pt idx="3">
                  <c:v>2167.6</c:v>
                </c:pt>
                <c:pt idx="4">
                  <c:v>3568.0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Aging MLFQ</c:v>
                </c:pt>
              </c:strCache>
            </c:strRef>
          </c:tx>
          <c:spPr>
            <a:ln w="28575">
              <a:solidFill>
                <a:srgbClr val="D69E2E"/>
              </a:solidFill>
            </a:ln>
          </c:spPr>
          <c:marker>
            <c:symbol val="diamond"/>
            <c:size val="7"/>
            <c:spPr>
              <a:solidFill>
                <a:srgbClr val="D69E2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150.0</c:v>
                </c:pt>
                <c:pt idx="1">
                  <c:v>434.6</c:v>
                </c:pt>
                <c:pt idx="2">
                  <c:v>1377.8</c:v>
                </c:pt>
                <c:pt idx="3">
                  <c:v>3255.4</c:v>
                </c:pt>
                <c:pt idx="4">
                  <c:v>9664.8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DMFQ-A</c:v>
                </c:pt>
              </c:strCache>
            </c:strRef>
          </c:tx>
          <c:spPr>
            <a:ln w="44450">
              <a:solidFill>
                <a:srgbClr val="0F7C82"/>
              </a:solidFill>
            </a:ln>
          </c:spPr>
          <c:marker>
            <c:symbol val="circle"/>
            <c:size val="9"/>
            <c:spPr>
              <a:solidFill>
                <a:srgbClr val="0F7C8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1.4</c:v>
                </c:pt>
                <c:pt idx="1">
                  <c:v>1.6</c:v>
                </c:pt>
                <c:pt idx="2">
                  <c:v>1.8</c:v>
                </c:pt>
                <c:pt idx="3">
                  <c:v>2.0</c:v>
                </c:pt>
                <c:pt idx="4">
                  <c:v>2.2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128.4</c:v>
                </c:pt>
                <c:pt idx="1">
                  <c:v>341.8</c:v>
                </c:pt>
                <c:pt idx="2">
                  <c:v>1023.0</c:v>
                </c:pt>
                <c:pt idx="3">
                  <c:v>2289.6</c:v>
                </c:pt>
                <c:pt idx="4">
                  <c:v>8751.0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8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243B5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500">
          <a:solidFill>
            <a:srgbClr val="243B53"/>
          </a:solidFill>
          <a:latin typeface="Source Sans 3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02A43"/>
                </a:solidFill>
                <a:latin typeface="Source Sans 3 Bold"/>
              </a:rPr>
              <a:t>Short jobs · mean JCT (h)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 jobs · mean JCT (h)</c:v>
                </c:pt>
              </c:strCache>
            </c:strRef>
          </c:tx>
          <c:dPt>
            <c:idx val="0"/>
            <c:spPr>
              <a:solidFill>
                <a:srgbClr val="0F7C82"/>
              </a:solidFill>
            </c:spPr>
          </c:dPt>
          <c:dPt>
            <c:idx val="1"/>
            <c:spPr>
              <a:solidFill>
                <a:srgbClr val="D69E2E"/>
              </a:solidFill>
            </c:spPr>
          </c:dPt>
          <c:dPt>
            <c:idx val="2"/>
            <c:spPr>
              <a:solidFill>
                <a:srgbClr val="32B6C5"/>
              </a:solidFill>
            </c:spPr>
          </c:dPt>
          <c:dPt>
            <c:idx val="3"/>
            <c:spPr>
              <a:solidFill>
                <a:srgbClr val="102A43"/>
              </a:solidFill>
            </c:spPr>
          </c:dPt>
          <c:dPt>
            <c:idx val="4"/>
            <c:spPr>
              <a:solidFill>
                <a:srgbClr val="9FB3C8"/>
              </a:solidFill>
            </c:spPr>
          </c:dPt>
          <c:cat>
            <c:strRef>
              <c:f>Sheet1!$A$2:$A$6</c:f>
              <c:strCache>
                <c:ptCount val="5"/>
                <c:pt idx="0">
                  <c:v>DMFQ-A</c:v>
                </c:pt>
                <c:pt idx="1">
                  <c:v>Aging MLFQ</c:v>
                </c:pt>
                <c:pt idx="2">
                  <c:v>Dynamic MLFQ</c:v>
                </c:pt>
                <c:pt idx="3">
                  <c:v>MLFQ</c:v>
                </c:pt>
                <c:pt idx="4">
                  <c:v>FCFS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1.860321552934526</c:v>
                </c:pt>
                <c:pt idx="1">
                  <c:v>1.8470198276311858</c:v>
                </c:pt>
                <c:pt idx="2">
                  <c:v>1.8076239726931256</c:v>
                </c:pt>
                <c:pt idx="3">
                  <c:v>1.9073970960527962</c:v>
                </c:pt>
                <c:pt idx="4">
                  <c:v>10.16159610442689</c:v>
                </c:pt>
              </c:numCache>
            </c:numRef>
          </c:val>
        </c:ser>
        <c:dLbls>
          <c:numFmt formatCode="0.0&quot; h&quot;" sourceLinked="0"/>
          <c:txPr>
            <a:bodyPr/>
            <a:lstStyle/>
            <a:p>
              <a:pPr>
                <a:defRPr sz="1500">
                  <a:solidFill>
                    <a:srgbClr val="102A43"/>
                  </a:solidFill>
                  <a:latin typeface="Source Sans 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243B53"/>
                </a:solidFill>
                <a:latin typeface="Source Sans 3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06843013666419"/>
          <c:min val="0.0"/>
        </c:scaling>
        <c:delete val="0"/>
        <c:axPos val="b"/>
        <c:majorGridlines>
          <c:spPr>
            <a:ln w="9525">
              <a:solidFill>
                <a:srgbClr val="D8E2E8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43B53"/>
          </a:solidFill>
          <a:latin typeface="Source Sans 3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02A43"/>
                </a:solidFill>
                <a:latin typeface="Source Sans 3 Bold"/>
              </a:rPr>
              <a:t>Long jobs · longest wait (h)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 jobs · longest wait (h)</c:v>
                </c:pt>
              </c:strCache>
            </c:strRef>
          </c:tx>
          <c:dPt>
            <c:idx val="0"/>
            <c:spPr>
              <a:solidFill>
                <a:srgbClr val="0F7C82"/>
              </a:solidFill>
            </c:spPr>
          </c:dPt>
          <c:dPt>
            <c:idx val="1"/>
            <c:spPr>
              <a:solidFill>
                <a:srgbClr val="D69E2E"/>
              </a:solidFill>
            </c:spPr>
          </c:dPt>
          <c:dPt>
            <c:idx val="2"/>
            <c:spPr>
              <a:solidFill>
                <a:srgbClr val="32B6C5"/>
              </a:solidFill>
            </c:spPr>
          </c:dPt>
          <c:dPt>
            <c:idx val="3"/>
            <c:spPr>
              <a:solidFill>
                <a:srgbClr val="102A43"/>
              </a:solidFill>
            </c:spPr>
          </c:dPt>
          <c:dPt>
            <c:idx val="4"/>
            <c:spPr>
              <a:solidFill>
                <a:srgbClr val="9FB3C8"/>
              </a:solidFill>
            </c:spPr>
          </c:dPt>
          <c:cat>
            <c:strRef>
              <c:f>Sheet1!$A$2:$A$6</c:f>
              <c:strCache>
                <c:ptCount val="5"/>
                <c:pt idx="0">
                  <c:v>DMFQ-A</c:v>
                </c:pt>
                <c:pt idx="1">
                  <c:v>Aging MLFQ</c:v>
                </c:pt>
                <c:pt idx="2">
                  <c:v>Dynamic MLFQ</c:v>
                </c:pt>
                <c:pt idx="3">
                  <c:v>MLFQ</c:v>
                </c:pt>
                <c:pt idx="4">
                  <c:v>FCFS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2.746666666666667</c:v>
                </c:pt>
                <c:pt idx="1">
                  <c:v>2.29</c:v>
                </c:pt>
                <c:pt idx="2">
                  <c:v>9.016666666666667</c:v>
                </c:pt>
                <c:pt idx="3">
                  <c:v>5.703333333333333</c:v>
                </c:pt>
                <c:pt idx="4">
                  <c:v>24.255073581018205</c:v>
                </c:pt>
              </c:numCache>
            </c:numRef>
          </c:val>
        </c:ser>
        <c:dLbls>
          <c:numFmt formatCode="0.0&quot; h&quot;" sourceLinked="0"/>
          <c:txPr>
            <a:bodyPr/>
            <a:lstStyle/>
            <a:p>
              <a:pPr>
                <a:defRPr sz="1500">
                  <a:solidFill>
                    <a:srgbClr val="102A43"/>
                  </a:solidFill>
                  <a:latin typeface="Source Sans 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243B53"/>
                </a:solidFill>
                <a:latin typeface="Source Sans 3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1.046494183703302"/>
          <c:min val="0.0"/>
        </c:scaling>
        <c:delete val="0"/>
        <c:axPos val="b"/>
        <c:majorGridlines>
          <c:spPr>
            <a:ln w="9525">
              <a:solidFill>
                <a:srgbClr val="D8E2E8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43B53"/>
          </a:solidFill>
          <a:latin typeface="Source Sans 3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02A43"/>
                </a:solidFill>
                <a:latin typeface="Source Sans 3 Bold"/>
              </a:rPr>
              <a:t>Preemptions (checkpoints)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Preemptions (checkpoints)</c:v>
                </c:pt>
              </c:strCache>
            </c:strRef>
          </c:tx>
          <c:dPt>
            <c:idx val="0"/>
            <c:spPr>
              <a:solidFill>
                <a:srgbClr val="0F7C82"/>
              </a:solidFill>
            </c:spPr>
          </c:dPt>
          <c:dPt>
            <c:idx val="1"/>
            <c:spPr>
              <a:solidFill>
                <a:srgbClr val="D69E2E"/>
              </a:solidFill>
            </c:spPr>
          </c:dPt>
          <c:dPt>
            <c:idx val="2"/>
            <c:spPr>
              <a:solidFill>
                <a:srgbClr val="32B6C5"/>
              </a:solidFill>
            </c:spPr>
          </c:dPt>
          <c:dPt>
            <c:idx val="3"/>
            <c:spPr>
              <a:solidFill>
                <a:srgbClr val="102A43"/>
              </a:solidFill>
            </c:spPr>
          </c:dPt>
          <c:dPt>
            <c:idx val="4"/>
            <c:spPr>
              <a:solidFill>
                <a:srgbClr val="9FB3C8"/>
              </a:solidFill>
            </c:spPr>
          </c:dPt>
          <c:cat>
            <c:strRef>
              <c:f>Sheet1!$A$2:$A$6</c:f>
              <c:strCache>
                <c:ptCount val="5"/>
                <c:pt idx="0">
                  <c:v>DMFQ-A</c:v>
                </c:pt>
                <c:pt idx="1">
                  <c:v>Aging MLFQ</c:v>
                </c:pt>
                <c:pt idx="2">
                  <c:v>Dynamic MLFQ</c:v>
                </c:pt>
                <c:pt idx="3">
                  <c:v>MLFQ</c:v>
                </c:pt>
                <c:pt idx="4">
                  <c:v>FCFS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1282.4</c:v>
                </c:pt>
                <c:pt idx="1">
                  <c:v>1092.6</c:v>
                </c:pt>
                <c:pt idx="2">
                  <c:v>634.8</c:v>
                </c:pt>
                <c:pt idx="3">
                  <c:v>786.0</c:v>
                </c:pt>
                <c:pt idx="4">
                  <c:v>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>
                  <a:solidFill>
                    <a:srgbClr val="102A43"/>
                  </a:solidFill>
                  <a:latin typeface="Source Sans 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243B53"/>
                </a:solidFill>
                <a:latin typeface="Source Sans 3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41.4720000000002"/>
          <c:min val="0.0"/>
        </c:scaling>
        <c:delete val="0"/>
        <c:axPos val="b"/>
        <c:majorGridlines>
          <c:spPr>
            <a:ln w="9525">
              <a:solidFill>
                <a:srgbClr val="D8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8E2E8"/>
            </a:solidFill>
          </a:ln>
        </c:spPr>
        <c:txPr>
          <a:bodyPr/>
          <a:lstStyle/>
          <a:p>
            <a:pPr>
              <a:defRPr sz="1500">
                <a:solidFill>
                  <a:srgbClr val="627D98"/>
                </a:solidFill>
                <a:latin typeface="Source Sans 3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43B53"/>
          </a:solidFill>
          <a:latin typeface="Source Sans 3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49250" y="0"/>
            <a:ext cx="5238750" cy="10287000"/>
            <a:chOff x="0" y="0"/>
            <a:chExt cx="6985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2A4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98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1438275"/>
            <a:ext cx="809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OPERATING SYSTEMS  ·  FINAL REVIEW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2600325"/>
            <a:ext cx="8572500" cy="144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87"/>
              </a:lnSpc>
            </a:pPr>
            <a:r>
              <a:rPr lang="en-US" sz="1125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DMFQ-A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4124325"/>
            <a:ext cx="11521440" cy="120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sz="4275" b="true">
                <a:solidFill>
                  <a:srgbClr val="0F7C8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Dynamic Multilevel Feedback Queue</a:t>
            </a:r>
          </a:p>
          <a:p>
            <a:pPr algn="l">
              <a:lnSpc>
                <a:spcPts val="4702"/>
              </a:lnSpc>
            </a:pPr>
            <a:r>
              <a:rPr lang="en-US" sz="4275" b="true">
                <a:solidFill>
                  <a:srgbClr val="0F7C8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with Aging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989320"/>
            <a:ext cx="109728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CPU time slices to LLM serving and GPU clusters.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7810500"/>
            <a:ext cx="8572500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0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Aman Golani</a:t>
            </a:r>
          </a:p>
          <a:p>
            <a:pPr algn="l">
              <a:lnSpc>
                <a:spcPts val="2936"/>
              </a:lnSpc>
            </a:pPr>
            <a:r>
              <a:rPr lang="en-US" sz="20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Bhargav Mahanta</a:t>
            </a:r>
          </a:p>
          <a:p>
            <a:pPr algn="l">
              <a:lnSpc>
                <a:spcPts val="2936"/>
              </a:lnSpc>
            </a:pPr>
            <a:r>
              <a:rPr lang="en-US" sz="20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Kriday Narula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 CPU Scheduling Matters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638300"/>
            <a:ext cx="147637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policy negotiates three goals that cannot all be maximized at once.</a:t>
            </a:r>
          </a:p>
        </p:txBody>
      </p:sp>
      <p:sp>
        <p:nvSpPr>
          <p:cNvPr name="AutoShape 4" id="4"/>
          <p:cNvSpPr/>
          <p:nvPr/>
        </p:nvSpPr>
        <p:spPr>
          <a:xfrm>
            <a:off x="3619500" y="4000500"/>
            <a:ext cx="1333500" cy="3238500"/>
          </a:xfrm>
          <a:prstGeom prst="line">
            <a:avLst/>
          </a:prstGeom>
          <a:ln cap="flat" w="66675">
            <a:solidFill>
              <a:srgbClr val="32B6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953000" y="7239000"/>
            <a:ext cx="8858250" cy="0"/>
          </a:xfrm>
          <a:prstGeom prst="line">
            <a:avLst/>
          </a:prstGeom>
          <a:ln cap="flat" w="66675">
            <a:solidFill>
              <a:srgbClr val="32B6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3619500" y="4000500"/>
            <a:ext cx="10191750" cy="3238500"/>
          </a:xfrm>
          <a:prstGeom prst="line">
            <a:avLst/>
          </a:prstGeom>
          <a:ln cap="flat" w="66675">
            <a:solidFill>
              <a:srgbClr val="32B6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858000" y="4953000"/>
            <a:ext cx="4572000" cy="1714500"/>
            <a:chOff x="0" y="0"/>
            <a:chExt cx="60960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096000">
                  <a:moveTo>
                    <a:pt x="47625" y="0"/>
                  </a:moveTo>
                  <a:lnTo>
                    <a:pt x="6048375" y="0"/>
                  </a:lnTo>
                  <a:cubicBezTo>
                    <a:pt x="6074678" y="0"/>
                    <a:pt x="6096000" y="21322"/>
                    <a:pt x="6096000" y="47625"/>
                  </a:cubicBezTo>
                  <a:lnTo>
                    <a:pt x="6096000" y="2238375"/>
                  </a:lnTo>
                  <a:cubicBezTo>
                    <a:pt x="6096000" y="2264678"/>
                    <a:pt x="6074678" y="2286000"/>
                    <a:pt x="6048375" y="2286000"/>
                  </a:cubicBezTo>
                  <a:lnTo>
                    <a:pt x="47625" y="2286000"/>
                  </a:lnTo>
                  <a:cubicBezTo>
                    <a:pt x="21322" y="2286000"/>
                    <a:pt x="0" y="2264678"/>
                    <a:pt x="0" y="22383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0F7C8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096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19250" y="3076575"/>
            <a:ext cx="40005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Fast first response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1625" y="7629525"/>
            <a:ext cx="47625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Fair long-job 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0" y="7629525"/>
            <a:ext cx="47625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Manageable switching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3250" y="5334000"/>
            <a:ext cx="4381500" cy="91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3"/>
              </a:lnSpc>
            </a:pPr>
            <a:r>
              <a:rPr lang="en-US" sz="3375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SCHEDULING</a:t>
            </a:r>
          </a:p>
          <a:p>
            <a:pPr algn="ctr">
              <a:lnSpc>
                <a:spcPts val="3543"/>
              </a:lnSpc>
            </a:pPr>
            <a:r>
              <a:rPr lang="en-US" sz="3375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TRADE-OFF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Traditional MLFQ: How It Works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590675"/>
            <a:ext cx="152400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New work enters at the top. Full allotment causes demotion; higher priority work preempts lower queues.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00250" y="3333750"/>
            <a:ext cx="3905250" cy="1714500"/>
            <a:chOff x="0" y="0"/>
            <a:chExt cx="5207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07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207000">
                  <a:moveTo>
                    <a:pt x="43366" y="0"/>
                  </a:moveTo>
                  <a:lnTo>
                    <a:pt x="5163634" y="0"/>
                  </a:lnTo>
                  <a:cubicBezTo>
                    <a:pt x="5187585" y="0"/>
                    <a:pt x="5207000" y="19416"/>
                    <a:pt x="5207000" y="43366"/>
                  </a:cubicBezTo>
                  <a:lnTo>
                    <a:pt x="5207000" y="2242634"/>
                  </a:lnTo>
                  <a:cubicBezTo>
                    <a:pt x="5207000" y="2266585"/>
                    <a:pt x="5187585" y="2286000"/>
                    <a:pt x="5163634" y="2286000"/>
                  </a:cubicBezTo>
                  <a:lnTo>
                    <a:pt x="43366" y="2286000"/>
                  </a:lnTo>
                  <a:cubicBezTo>
                    <a:pt x="19416" y="2286000"/>
                    <a:pt x="0" y="2266585"/>
                    <a:pt x="0" y="2242634"/>
                  </a:cubicBezTo>
                  <a:lnTo>
                    <a:pt x="0" y="43366"/>
                  </a:lnTo>
                  <a:cubicBezTo>
                    <a:pt x="0" y="19416"/>
                    <a:pt x="19416" y="0"/>
                    <a:pt x="43366" y="0"/>
                  </a:cubicBezTo>
                  <a:close/>
                </a:path>
              </a:pathLst>
            </a:custGeom>
            <a:solidFill>
              <a:srgbClr val="E8F5F5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207000" cy="228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Q0  •  4 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1375" y="3333750"/>
            <a:ext cx="3905250" cy="1714500"/>
            <a:chOff x="0" y="0"/>
            <a:chExt cx="52070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07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207000">
                  <a:moveTo>
                    <a:pt x="43366" y="0"/>
                  </a:moveTo>
                  <a:lnTo>
                    <a:pt x="5163634" y="0"/>
                  </a:lnTo>
                  <a:cubicBezTo>
                    <a:pt x="5187585" y="0"/>
                    <a:pt x="5207000" y="19416"/>
                    <a:pt x="5207000" y="43366"/>
                  </a:cubicBezTo>
                  <a:lnTo>
                    <a:pt x="5207000" y="2242634"/>
                  </a:lnTo>
                  <a:cubicBezTo>
                    <a:pt x="5207000" y="2266585"/>
                    <a:pt x="5187585" y="2286000"/>
                    <a:pt x="5163634" y="2286000"/>
                  </a:cubicBezTo>
                  <a:lnTo>
                    <a:pt x="43366" y="2286000"/>
                  </a:lnTo>
                  <a:cubicBezTo>
                    <a:pt x="19416" y="2286000"/>
                    <a:pt x="0" y="2266585"/>
                    <a:pt x="0" y="2242634"/>
                  </a:cubicBezTo>
                  <a:lnTo>
                    <a:pt x="0" y="43366"/>
                  </a:lnTo>
                  <a:cubicBezTo>
                    <a:pt x="0" y="19416"/>
                    <a:pt x="19416" y="0"/>
                    <a:pt x="4336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207000" cy="228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Q1  •  8 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82500" y="3333750"/>
            <a:ext cx="3905250" cy="1714500"/>
            <a:chOff x="0" y="0"/>
            <a:chExt cx="52070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07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207000">
                  <a:moveTo>
                    <a:pt x="43366" y="0"/>
                  </a:moveTo>
                  <a:lnTo>
                    <a:pt x="5163634" y="0"/>
                  </a:lnTo>
                  <a:cubicBezTo>
                    <a:pt x="5187585" y="0"/>
                    <a:pt x="5207000" y="19416"/>
                    <a:pt x="5207000" y="43366"/>
                  </a:cubicBezTo>
                  <a:lnTo>
                    <a:pt x="5207000" y="2242634"/>
                  </a:lnTo>
                  <a:cubicBezTo>
                    <a:pt x="5207000" y="2266585"/>
                    <a:pt x="5187585" y="2286000"/>
                    <a:pt x="5163634" y="2286000"/>
                  </a:cubicBezTo>
                  <a:lnTo>
                    <a:pt x="43366" y="2286000"/>
                  </a:lnTo>
                  <a:cubicBezTo>
                    <a:pt x="19416" y="2286000"/>
                    <a:pt x="0" y="2266585"/>
                    <a:pt x="0" y="2242634"/>
                  </a:cubicBezTo>
                  <a:lnTo>
                    <a:pt x="0" y="43366"/>
                  </a:lnTo>
                  <a:cubicBezTo>
                    <a:pt x="0" y="19416"/>
                    <a:pt x="19416" y="0"/>
                    <a:pt x="4336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207000" cy="228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Q2  •  16 ms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905500" y="4191000"/>
            <a:ext cx="1285875" cy="0"/>
          </a:xfrm>
          <a:prstGeom prst="line">
            <a:avLst/>
          </a:prstGeom>
          <a:ln cap="flat" w="47625">
            <a:solidFill>
              <a:srgbClr val="0F7C8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096625" y="4191000"/>
            <a:ext cx="1285875" cy="0"/>
          </a:xfrm>
          <a:prstGeom prst="line">
            <a:avLst/>
          </a:prstGeom>
          <a:ln cap="flat" w="47625">
            <a:solidFill>
              <a:srgbClr val="0F7C8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000250" y="5953125"/>
            <a:ext cx="3905250" cy="952500"/>
            <a:chOff x="0" y="0"/>
            <a:chExt cx="5207000" cy="127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07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207000">
                  <a:moveTo>
                    <a:pt x="43366" y="0"/>
                  </a:moveTo>
                  <a:lnTo>
                    <a:pt x="5163634" y="0"/>
                  </a:lnTo>
                  <a:cubicBezTo>
                    <a:pt x="5187585" y="0"/>
                    <a:pt x="5207000" y="19416"/>
                    <a:pt x="5207000" y="43366"/>
                  </a:cubicBezTo>
                  <a:lnTo>
                    <a:pt x="5207000" y="1226634"/>
                  </a:lnTo>
                  <a:cubicBezTo>
                    <a:pt x="5207000" y="1250584"/>
                    <a:pt x="5187585" y="1270000"/>
                    <a:pt x="5163634" y="1270000"/>
                  </a:cubicBezTo>
                  <a:lnTo>
                    <a:pt x="43366" y="1270000"/>
                  </a:lnTo>
                  <a:cubicBezTo>
                    <a:pt x="19416" y="1270000"/>
                    <a:pt x="0" y="1250584"/>
                    <a:pt x="0" y="1226634"/>
                  </a:cubicBezTo>
                  <a:lnTo>
                    <a:pt x="0" y="43366"/>
                  </a:lnTo>
                  <a:cubicBezTo>
                    <a:pt x="0" y="19416"/>
                    <a:pt x="19416" y="0"/>
                    <a:pt x="43366" y="0"/>
                  </a:cubicBezTo>
                  <a:close/>
                </a:path>
              </a:pathLst>
            </a:custGeom>
            <a:solidFill>
              <a:srgbClr val="EEF2F5"/>
            </a:solidFill>
            <a:ln w="19050" cap="sq">
              <a:solidFill>
                <a:srgbClr val="627D98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5207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Admissions → Q0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91375" y="5953125"/>
            <a:ext cx="9096375" cy="952500"/>
            <a:chOff x="0" y="0"/>
            <a:chExt cx="12128500" cy="127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285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128500">
                  <a:moveTo>
                    <a:pt x="18618" y="0"/>
                  </a:moveTo>
                  <a:lnTo>
                    <a:pt x="12109883" y="0"/>
                  </a:lnTo>
                  <a:cubicBezTo>
                    <a:pt x="12120165" y="0"/>
                    <a:pt x="12128500" y="8335"/>
                    <a:pt x="12128500" y="18618"/>
                  </a:cubicBezTo>
                  <a:lnTo>
                    <a:pt x="12128500" y="1251382"/>
                  </a:lnTo>
                  <a:cubicBezTo>
                    <a:pt x="12128500" y="1261665"/>
                    <a:pt x="12120165" y="1270000"/>
                    <a:pt x="12109883" y="1270000"/>
                  </a:cubicBezTo>
                  <a:lnTo>
                    <a:pt x="18618" y="1270000"/>
                  </a:lnTo>
                  <a:cubicBezTo>
                    <a:pt x="8335" y="1270000"/>
                    <a:pt x="0" y="1261665"/>
                    <a:pt x="0" y="1251382"/>
                  </a:cubicBezTo>
                  <a:lnTo>
                    <a:pt x="0" y="18618"/>
                  </a:lnTo>
                  <a:cubicBezTo>
                    <a:pt x="0" y="8335"/>
                    <a:pt x="8335" y="0"/>
                    <a:pt x="18618" y="0"/>
                  </a:cubicBezTo>
                  <a:close/>
                </a:path>
              </a:pathLst>
            </a:custGeom>
            <a:solidFill>
              <a:srgbClr val="EEF2F5"/>
            </a:solidFill>
            <a:ln w="19050" cap="sq">
              <a:solidFill>
                <a:srgbClr val="627D98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21285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High-priority arrival preempts lower-priority execution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86000" y="8239125"/>
            <a:ext cx="13716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</a:pPr>
            <a:r>
              <a:rPr lang="en-US" sz="2325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Responsive by design — but fixed queue quanta and boost cadence encode consequential trade-offs.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857500"/>
            <a:ext cx="5334000" cy="4501515"/>
            <a:chOff x="0" y="0"/>
            <a:chExt cx="7112000" cy="600202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112000" cy="4953000"/>
              <a:chOff x="0" y="0"/>
              <a:chExt cx="7112000" cy="495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112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EF2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7112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81000" y="644525"/>
              <a:ext cx="6350000" cy="1006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02A4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Fixed quanta ignore changing READY pressure.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81000" y="5476875"/>
              <a:ext cx="12700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F7C8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15125" y="2857500"/>
            <a:ext cx="5334000" cy="4501515"/>
            <a:chOff x="0" y="0"/>
            <a:chExt cx="7112000" cy="600202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112000" cy="4953000"/>
              <a:chOff x="0" y="0"/>
              <a:chExt cx="7112000" cy="495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112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112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644525"/>
              <a:ext cx="6350000" cy="1006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02A4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Low-priority jobs may wait for prolonged periods.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5476875"/>
              <a:ext cx="12700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F7C8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82500" y="2857500"/>
            <a:ext cx="5334000" cy="4501515"/>
            <a:chOff x="0" y="0"/>
            <a:chExt cx="7112000" cy="600202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112000" cy="4953000"/>
              <a:chOff x="0" y="0"/>
              <a:chExt cx="7112000" cy="4953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112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EF2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112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644525"/>
              <a:ext cx="6350000" cy="1514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02A4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Frequent boosts reduce starvation—but add switches and may hurt first response.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5476875"/>
              <a:ext cx="12700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F7C8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00250" y="8001000"/>
            <a:ext cx="14287500" cy="1143000"/>
            <a:chOff x="0" y="0"/>
            <a:chExt cx="19050000" cy="1524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9050000" cy="1524000"/>
              <a:chOff x="0" y="0"/>
              <a:chExt cx="19050000" cy="1524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9050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90500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02A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9050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08000" y="333375"/>
              <a:ext cx="18034000" cy="62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0"/>
                </a:lnSpc>
              </a:pPr>
              <a:r>
                <a:rPr lang="en-US" sz="28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Research stance: evaluate trade-offs; do not assume one scheduler wins.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2381250"/>
            <a:ext cx="16192500" cy="2286000"/>
            <a:chOff x="0" y="0"/>
            <a:chExt cx="21590000" cy="3048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590000" cy="3048000"/>
              <a:chOff x="0" y="0"/>
              <a:chExt cx="21590000" cy="3048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590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E8F5F5"/>
              </a:solidFill>
              <a:ln w="9525" cap="sq">
                <a:solidFill>
                  <a:srgbClr val="D8E2E8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1590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08000" y="523875"/>
              <a:ext cx="4953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en-US" sz="2625" b="true">
                  <a:solidFill>
                    <a:srgbClr val="0F7C8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OSTEP, Ch. 8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096000" y="523875"/>
              <a:ext cx="6604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MLFQ foundation; priority boosting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716000" y="523875"/>
              <a:ext cx="7112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627D9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Policy tuning remains workload-sensitive.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727066"/>
            <a:ext cx="16192500" cy="2286000"/>
            <a:chOff x="0" y="0"/>
            <a:chExt cx="21590000" cy="3048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1590000" cy="3048000"/>
              <a:chOff x="0" y="0"/>
              <a:chExt cx="21590000" cy="3048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590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8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1590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523875"/>
              <a:ext cx="4953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en-US" sz="2625" b="true">
                  <a:solidFill>
                    <a:srgbClr val="0F7C8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Behera et al. (2012)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096000" y="523875"/>
              <a:ext cx="6604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Dynamic time quantum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716000" y="523875"/>
              <a:ext cx="7112000" cy="1061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627D9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Reported gains may not generalize across workloads.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7750" y="4953000"/>
            <a:ext cx="16192500" cy="2286000"/>
            <a:chOff x="0" y="0"/>
            <a:chExt cx="21590000" cy="3048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1590000" cy="3048000"/>
              <a:chOff x="0" y="0"/>
              <a:chExt cx="21590000" cy="3048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590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E8F5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1590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08000" y="434975"/>
              <a:ext cx="5969000" cy="1061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0F7C8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Developed Dynamic MLFQ with Aging Criteria (2020 preprint)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239000" y="523875"/>
              <a:ext cx="6096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Integrated dynamic policy + aging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4351000" y="523875"/>
              <a:ext cx="6350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627D9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Existing integrated prior art.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6479791"/>
            <a:ext cx="16192500" cy="2286000"/>
            <a:chOff x="0" y="0"/>
            <a:chExt cx="21590000" cy="3048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1590000" cy="3048000"/>
              <a:chOff x="0" y="0"/>
              <a:chExt cx="21590000" cy="3048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590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EEF2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1590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08000" y="434975"/>
              <a:ext cx="5969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0F7C8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Meing &amp; Tandingan (2025)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239000" y="523875"/>
              <a:ext cx="6096000" cy="1061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243B53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Regression-based quantum adjustment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4351000" y="523875"/>
              <a:ext cx="6350000" cy="1061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>
                  <a:solidFill>
                    <a:srgbClr val="627D9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Different data, model and assumptions.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28700" y="7992241"/>
            <a:ext cx="16192500" cy="762373"/>
          </a:xfrm>
          <a:custGeom>
            <a:avLst/>
            <a:gdLst/>
            <a:ahLst/>
            <a:cxnLst/>
            <a:rect r="r" b="b" t="t" l="l"/>
            <a:pathLst>
              <a:path h="762373" w="16192500">
                <a:moveTo>
                  <a:pt x="0" y="0"/>
                </a:moveTo>
                <a:lnTo>
                  <a:pt x="16192500" y="0"/>
                </a:lnTo>
                <a:lnTo>
                  <a:pt x="16192500" y="762373"/>
                </a:lnTo>
                <a:lnTo>
                  <a:pt x="0" y="762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0" t="-1975581" r="0" b="-48379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Literature Review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8750" y="1866900"/>
            <a:ext cx="37147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SOURCE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19750" y="1866900"/>
            <a:ext cx="4953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CONTRIBUTION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34750" y="1866900"/>
            <a:ext cx="5334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OPEN CHALLENGE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09352" y="8143875"/>
            <a:ext cx="140970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Implication: novelty cannot rest on the mere combination of dynamic quanta and aging.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Research Gap &amp; 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000250"/>
            <a:ext cx="6667500" cy="6477000"/>
            <a:chOff x="0" y="0"/>
            <a:chExt cx="8890000" cy="863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890000" cy="8636000"/>
              <a:chOff x="0" y="0"/>
              <a:chExt cx="8890000" cy="8636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8900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102A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8900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333375"/>
              <a:ext cx="533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32B6C5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THE GAP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08000" y="1308100"/>
              <a:ext cx="7747000" cy="1964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7"/>
                </a:lnSpc>
              </a:pPr>
              <a:r>
                <a:rPr lang="en-US" sz="35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Separate algorithm-invention novelty from evaluation contribution.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572500" y="2247900"/>
            <a:ext cx="6667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0" y="2924175"/>
            <a:ext cx="8096250" cy="338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255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01  Four-policy controlled ablation</a:t>
            </a:r>
          </a:p>
          <a:p>
            <a:pPr algn="l">
              <a:lnSpc>
                <a:spcPts val="4462"/>
              </a:lnSpc>
            </a:pPr>
            <a:r>
              <a:rPr lang="en-US" sz="255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02  Deterministic fairness + response metrics</a:t>
            </a:r>
          </a:p>
          <a:p>
            <a:pPr algn="l">
              <a:lnSpc>
                <a:spcPts val="4462"/>
              </a:lnSpc>
            </a:pPr>
            <a:r>
              <a:rPr lang="en-US" sz="255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03  Test quantum resizing × aging interaction</a:t>
            </a:r>
          </a:p>
          <a:p>
            <a:pPr algn="l">
              <a:lnSpc>
                <a:spcPts val="4462"/>
              </a:lnSpc>
            </a:pPr>
            <a:r>
              <a:rPr lang="en-US" sz="255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04  Reproducible experiments</a:t>
            </a:r>
          </a:p>
          <a:p>
            <a:pPr algn="l">
              <a:lnSpc>
                <a:spcPts val="4462"/>
              </a:lnSpc>
            </a:pPr>
            <a:r>
              <a:rPr lang="en-US" sz="255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05  Transfer to LLM serving and GPU clusters</a:t>
            </a:r>
          </a:p>
          <a:p>
            <a:pPr algn="l">
              <a:lnSpc>
                <a:spcPts val="4462"/>
              </a:lnSpc>
            </a:pPr>
            <a:r>
              <a:rPr lang="en-US" sz="255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06  Interactive demo for operators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 Solution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64639" y="3577400"/>
            <a:ext cx="2381250" cy="1143000"/>
            <a:chOff x="0" y="0"/>
            <a:chExt cx="3175000" cy="152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5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75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452880"/>
                  </a:lnTo>
                  <a:cubicBezTo>
                    <a:pt x="3175000" y="1492159"/>
                    <a:pt x="3143159" y="1524000"/>
                    <a:pt x="3103880" y="1524000"/>
                  </a:cubicBezTo>
                  <a:lnTo>
                    <a:pt x="71120" y="1524000"/>
                  </a:lnTo>
                  <a:cubicBezTo>
                    <a:pt x="31842" y="1524000"/>
                    <a:pt x="0" y="1492159"/>
                    <a:pt x="0" y="1452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175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Arrival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07889" y="3577400"/>
            <a:ext cx="2857500" cy="1143000"/>
            <a:chOff x="0" y="0"/>
            <a:chExt cx="3810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464733"/>
                  </a:lnTo>
                  <a:cubicBezTo>
                    <a:pt x="3810000" y="1497465"/>
                    <a:pt x="3783466" y="1524000"/>
                    <a:pt x="3750733" y="1524000"/>
                  </a:cubicBezTo>
                  <a:lnTo>
                    <a:pt x="59267" y="1524000"/>
                  </a:lnTo>
                  <a:cubicBezTo>
                    <a:pt x="26535" y="1524000"/>
                    <a:pt x="0" y="1497465"/>
                    <a:pt x="0" y="1464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8F5F5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810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Q0 dispatch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7389" y="3577400"/>
            <a:ext cx="2857500" cy="1143000"/>
            <a:chOff x="0" y="0"/>
            <a:chExt cx="38100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464733"/>
                  </a:lnTo>
                  <a:cubicBezTo>
                    <a:pt x="3810000" y="1497465"/>
                    <a:pt x="3783466" y="1524000"/>
                    <a:pt x="3750733" y="1524000"/>
                  </a:cubicBezTo>
                  <a:lnTo>
                    <a:pt x="59267" y="1524000"/>
                  </a:lnTo>
                  <a:cubicBezTo>
                    <a:pt x="26535" y="1524000"/>
                    <a:pt x="0" y="1497465"/>
                    <a:pt x="0" y="1464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810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Expiry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46889" y="3577400"/>
            <a:ext cx="2857500" cy="1143000"/>
            <a:chOff x="0" y="0"/>
            <a:chExt cx="3810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464733"/>
                  </a:lnTo>
                  <a:cubicBezTo>
                    <a:pt x="3810000" y="1497465"/>
                    <a:pt x="3783466" y="1524000"/>
                    <a:pt x="3750733" y="1524000"/>
                  </a:cubicBezTo>
                  <a:lnTo>
                    <a:pt x="59267" y="1524000"/>
                  </a:lnTo>
                  <a:cubicBezTo>
                    <a:pt x="26535" y="1524000"/>
                    <a:pt x="0" y="1497465"/>
                    <a:pt x="0" y="1464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810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Demotion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53250" y="6858000"/>
            <a:ext cx="4381500" cy="1143000"/>
            <a:chOff x="0" y="0"/>
            <a:chExt cx="5842000" cy="152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4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5842000">
                  <a:moveTo>
                    <a:pt x="38652" y="0"/>
                  </a:moveTo>
                  <a:lnTo>
                    <a:pt x="5803348" y="0"/>
                  </a:lnTo>
                  <a:cubicBezTo>
                    <a:pt x="5813599" y="0"/>
                    <a:pt x="5823430" y="4072"/>
                    <a:pt x="5830679" y="11321"/>
                  </a:cubicBezTo>
                  <a:cubicBezTo>
                    <a:pt x="5837928" y="18570"/>
                    <a:pt x="5842000" y="28401"/>
                    <a:pt x="5842000" y="38652"/>
                  </a:cubicBezTo>
                  <a:lnTo>
                    <a:pt x="5842000" y="1485348"/>
                  </a:lnTo>
                  <a:cubicBezTo>
                    <a:pt x="5842000" y="1495599"/>
                    <a:pt x="5837928" y="1505430"/>
                    <a:pt x="5830679" y="1512679"/>
                  </a:cubicBezTo>
                  <a:cubicBezTo>
                    <a:pt x="5823430" y="1519928"/>
                    <a:pt x="5813599" y="1524000"/>
                    <a:pt x="5803348" y="1524000"/>
                  </a:cubicBezTo>
                  <a:lnTo>
                    <a:pt x="38652" y="1524000"/>
                  </a:lnTo>
                  <a:cubicBezTo>
                    <a:pt x="28401" y="1524000"/>
                    <a:pt x="18570" y="1519928"/>
                    <a:pt x="11321" y="1512679"/>
                  </a:cubicBezTo>
                  <a:cubicBezTo>
                    <a:pt x="4072" y="1505430"/>
                    <a:pt x="0" y="1495599"/>
                    <a:pt x="0" y="1485348"/>
                  </a:cubicBezTo>
                  <a:lnTo>
                    <a:pt x="0" y="38652"/>
                  </a:lnTo>
                  <a:cubicBezTo>
                    <a:pt x="0" y="28401"/>
                    <a:pt x="4072" y="18570"/>
                    <a:pt x="11321" y="11321"/>
                  </a:cubicBezTo>
                  <a:cubicBezTo>
                    <a:pt x="18570" y="4072"/>
                    <a:pt x="28401" y="0"/>
                    <a:pt x="38652" y="0"/>
                  </a:cubicBezTo>
                  <a:close/>
                </a:path>
              </a:pathLst>
            </a:custGeom>
            <a:solidFill>
              <a:srgbClr val="102A43"/>
            </a:solidFill>
            <a:ln w="19050" cap="sq">
              <a:solidFill>
                <a:srgbClr val="102A4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842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Deterministic timer events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145889" y="4148900"/>
            <a:ext cx="762000" cy="0"/>
          </a:xfrm>
          <a:prstGeom prst="line">
            <a:avLst/>
          </a:prstGeom>
          <a:ln cap="flat" w="38100">
            <a:solidFill>
              <a:srgbClr val="0F7C8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765389" y="4148900"/>
            <a:ext cx="762000" cy="0"/>
          </a:xfrm>
          <a:prstGeom prst="line">
            <a:avLst/>
          </a:prstGeom>
          <a:ln cap="flat" w="38100">
            <a:solidFill>
              <a:srgbClr val="0F7C8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2384889" y="4148900"/>
            <a:ext cx="762000" cy="0"/>
          </a:xfrm>
          <a:prstGeom prst="line">
            <a:avLst/>
          </a:prstGeom>
          <a:ln cap="flat" w="38100">
            <a:solidFill>
              <a:srgbClr val="0F7C8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619250" y="5676900"/>
            <a:ext cx="4762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ADAPTIVE QUANTA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9250" y="6105525"/>
            <a:ext cx="476250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Q1/Q2 quantum responds to READY occupancy.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01500" y="5676900"/>
            <a:ext cx="4286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SELECTIVE AGING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01500" y="6105525"/>
            <a:ext cx="428625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READY-time threshold promotes waiting work.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10000" y="8715375"/>
            <a:ext cx="10668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</a:pPr>
            <a:r>
              <a:rPr lang="en-US" sz="2325" b="true">
                <a:solidFill>
                  <a:srgbClr val="0F7C8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Higher-priority arrivals preempt; remaining quantum is preserved.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Algorithm Rules and Parameters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143125"/>
            <a:ext cx="5334000" cy="6191250"/>
            <a:chOff x="0" y="0"/>
            <a:chExt cx="7112000" cy="825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731000" cy="8255000"/>
              <a:chOff x="0" y="0"/>
              <a:chExt cx="6731000" cy="825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31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02A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731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479425"/>
              <a:ext cx="5461000" cy="149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Q0 = 4 ms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Q1 base = 8 ms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Q2 base = 16 ms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08000" y="4743450"/>
              <a:ext cx="6604000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6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 = READY count excluding receiver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ref = 8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0" y="2952750"/>
            <a:ext cx="10287000" cy="1809750"/>
            <a:chOff x="0" y="0"/>
            <a:chExt cx="13716000" cy="2413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16000" cy="2413000"/>
              <a:chOff x="0" y="0"/>
              <a:chExt cx="13716000" cy="241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716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3716000">
                    <a:moveTo>
                      <a:pt x="0" y="0"/>
                    </a:moveTo>
                    <a:lnTo>
                      <a:pt x="13716000" y="0"/>
                    </a:lnTo>
                    <a:lnTo>
                      <a:pt x="13716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8F5F5"/>
              </a:solidFill>
              <a:ln w="19050" cap="sq">
                <a:solidFill>
                  <a:srgbClr val="0F7C82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3716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54000" y="904875"/>
              <a:ext cx="132080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02A4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q = min(2b, b + ⌊b · min(R,ref) / ref⌋)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810500" y="6248400"/>
            <a:ext cx="5715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AGING THRESHOLDS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10500" y="6715125"/>
            <a:ext cx="5715000" cy="107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2850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Q1: 24 ms → Q0</a:t>
            </a:r>
          </a:p>
          <a:p>
            <a:pPr algn="l">
              <a:lnSpc>
                <a:spcPts val="4417"/>
              </a:lnSpc>
            </a:pPr>
            <a:r>
              <a:rPr lang="en-US" sz="2850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Q2: 48 ms → Q1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8000" y="8763000"/>
            <a:ext cx="9906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</a:pPr>
            <a:r>
              <a:rPr lang="en-US" sz="2325" b="true">
                <a:solidFill>
                  <a:srgbClr val="0F7C8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Preemption preserves remaining quantum.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System Architecture</a:t>
            </a:r>
          </a:p>
        </p:txBody>
      </p:sp>
      <p:sp>
        <p:nvSpPr>
          <p:cNvPr name="AutoShape 3" id="3"/>
          <p:cNvSpPr/>
          <p:nvPr/>
        </p:nvSpPr>
        <p:spPr>
          <a:xfrm>
            <a:off x="3238500" y="4286250"/>
            <a:ext cx="619125" cy="0"/>
          </a:xfrm>
          <a:prstGeom prst="line">
            <a:avLst/>
          </a:prstGeom>
          <a:ln cap="flat" w="38100">
            <a:solidFill>
              <a:srgbClr val="32B6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715125" y="4286250"/>
            <a:ext cx="809625" cy="0"/>
          </a:xfrm>
          <a:prstGeom prst="line">
            <a:avLst/>
          </a:prstGeom>
          <a:ln cap="flat" w="38100">
            <a:solidFill>
              <a:srgbClr val="32B6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572750" y="4286250"/>
            <a:ext cx="619125" cy="0"/>
          </a:xfrm>
          <a:prstGeom prst="line">
            <a:avLst/>
          </a:prstGeom>
          <a:ln cap="flat" w="38100">
            <a:solidFill>
              <a:srgbClr val="32B6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239875" y="4286250"/>
            <a:ext cx="619125" cy="0"/>
          </a:xfrm>
          <a:prstGeom prst="line">
            <a:avLst/>
          </a:prstGeom>
          <a:ln cap="flat" w="38100">
            <a:solidFill>
              <a:srgbClr val="32B6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62000" y="3476625"/>
            <a:ext cx="2476500" cy="1619250"/>
            <a:chOff x="0" y="0"/>
            <a:chExt cx="3302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302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2090615"/>
                  </a:lnTo>
                  <a:cubicBezTo>
                    <a:pt x="3302000" y="2108752"/>
                    <a:pt x="3294795" y="2126146"/>
                    <a:pt x="3281971" y="2138971"/>
                  </a:cubicBezTo>
                  <a:cubicBezTo>
                    <a:pt x="3269146" y="2151795"/>
                    <a:pt x="3251752" y="2159000"/>
                    <a:pt x="3233615" y="2159000"/>
                  </a:cubicBezTo>
                  <a:lnTo>
                    <a:pt x="68385" y="2159000"/>
                  </a:lnTo>
                  <a:cubicBezTo>
                    <a:pt x="50248" y="2159000"/>
                    <a:pt x="32854" y="2151795"/>
                    <a:pt x="20029" y="2138971"/>
                  </a:cubicBezTo>
                  <a:cubicBezTo>
                    <a:pt x="7205" y="2126146"/>
                    <a:pt x="0" y="2108752"/>
                    <a:pt x="0" y="2090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3302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CSV process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workload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57625" y="3476625"/>
            <a:ext cx="2857500" cy="1619250"/>
            <a:chOff x="0" y="0"/>
            <a:chExt cx="3810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099733"/>
                  </a:lnTo>
                  <a:cubicBezTo>
                    <a:pt x="3810000" y="2132465"/>
                    <a:pt x="3783466" y="2159000"/>
                    <a:pt x="3750733" y="2159000"/>
                  </a:cubicBezTo>
                  <a:lnTo>
                    <a:pt x="59267" y="2159000"/>
                  </a:lnTo>
                  <a:cubicBezTo>
                    <a:pt x="26535" y="2159000"/>
                    <a:pt x="0" y="2132465"/>
                    <a:pt x="0" y="2099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8F5F5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3810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C11 discrete-event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scheduler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24750" y="3476625"/>
            <a:ext cx="3048000" cy="1619250"/>
            <a:chOff x="0" y="0"/>
            <a:chExt cx="4064000" cy="215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2103438"/>
                  </a:lnTo>
                  <a:cubicBezTo>
                    <a:pt x="4064000" y="2134124"/>
                    <a:pt x="4039124" y="2159000"/>
                    <a:pt x="4008438" y="2159000"/>
                  </a:cubicBezTo>
                  <a:lnTo>
                    <a:pt x="55562" y="2159000"/>
                  </a:lnTo>
                  <a:cubicBezTo>
                    <a:pt x="24876" y="2159000"/>
                    <a:pt x="0" y="2134124"/>
                    <a:pt x="0" y="2103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4064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JSON trace +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process metrics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91875" y="3476625"/>
            <a:ext cx="3048000" cy="1619250"/>
            <a:chOff x="0" y="0"/>
            <a:chExt cx="4064000" cy="215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2103438"/>
                  </a:lnTo>
                  <a:cubicBezTo>
                    <a:pt x="4064000" y="2134124"/>
                    <a:pt x="4039124" y="2159000"/>
                    <a:pt x="4008438" y="2159000"/>
                  </a:cubicBezTo>
                  <a:lnTo>
                    <a:pt x="55562" y="2159000"/>
                  </a:lnTo>
                  <a:cubicBezTo>
                    <a:pt x="24876" y="2159000"/>
                    <a:pt x="0" y="2134124"/>
                    <a:pt x="0" y="2103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064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Python bridge +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analysis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859000" y="3476625"/>
            <a:ext cx="2667000" cy="1619250"/>
            <a:chOff x="0" y="0"/>
            <a:chExt cx="3556000" cy="215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2095500"/>
                  </a:lnTo>
                  <a:cubicBezTo>
                    <a:pt x="3556000" y="2130570"/>
                    <a:pt x="3527570" y="2159000"/>
                    <a:pt x="3492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556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Streamlit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visualizer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238625" y="5438775"/>
            <a:ext cx="2095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6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4 POLICY MODULES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47750" y="6667500"/>
            <a:ext cx="16192500" cy="0"/>
          </a:xfrm>
          <a:prstGeom prst="line">
            <a:avLst/>
          </a:prstGeom>
          <a:ln cap="flat" w="19050">
            <a:solidFill>
              <a:srgbClr val="D8E2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47750" y="7058025"/>
            <a:ext cx="428625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Model assumptions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750" y="7677150"/>
            <a:ext cx="152400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Single CPU  •  no I/O  •  switch count recorded  •  zero switch time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23900"/>
            <a:ext cx="16192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Evaluation Plan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381250"/>
            <a:ext cx="3619500" cy="1095375"/>
            <a:chOff x="0" y="0"/>
            <a:chExt cx="4826000" cy="1460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26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4826000">
                  <a:moveTo>
                    <a:pt x="46789" y="0"/>
                  </a:moveTo>
                  <a:lnTo>
                    <a:pt x="4779211" y="0"/>
                  </a:lnTo>
                  <a:cubicBezTo>
                    <a:pt x="4805052" y="0"/>
                    <a:pt x="4826000" y="20948"/>
                    <a:pt x="4826000" y="46789"/>
                  </a:cubicBezTo>
                  <a:lnTo>
                    <a:pt x="4826000" y="1413711"/>
                  </a:lnTo>
                  <a:cubicBezTo>
                    <a:pt x="4826000" y="1439552"/>
                    <a:pt x="4805052" y="1460500"/>
                    <a:pt x="4779211" y="1460500"/>
                  </a:cubicBezTo>
                  <a:lnTo>
                    <a:pt x="46789" y="1460500"/>
                  </a:lnTo>
                  <a:cubicBezTo>
                    <a:pt x="20948" y="1460500"/>
                    <a:pt x="0" y="1439552"/>
                    <a:pt x="0" y="1413711"/>
                  </a:cubicBezTo>
                  <a:lnTo>
                    <a:pt x="0" y="46789"/>
                  </a:lnTo>
                  <a:cubicBezTo>
                    <a:pt x="0" y="20948"/>
                    <a:pt x="20948" y="0"/>
                    <a:pt x="4678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826000" cy="145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MLFQ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34000" y="2381250"/>
            <a:ext cx="3619500" cy="1095375"/>
            <a:chOff x="0" y="0"/>
            <a:chExt cx="4826000" cy="1460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6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4826000">
                  <a:moveTo>
                    <a:pt x="46789" y="0"/>
                  </a:moveTo>
                  <a:lnTo>
                    <a:pt x="4779211" y="0"/>
                  </a:lnTo>
                  <a:cubicBezTo>
                    <a:pt x="4805052" y="0"/>
                    <a:pt x="4826000" y="20948"/>
                    <a:pt x="4826000" y="46789"/>
                  </a:cubicBezTo>
                  <a:lnTo>
                    <a:pt x="4826000" y="1413711"/>
                  </a:lnTo>
                  <a:cubicBezTo>
                    <a:pt x="4826000" y="1439552"/>
                    <a:pt x="4805052" y="1460500"/>
                    <a:pt x="4779211" y="1460500"/>
                  </a:cubicBezTo>
                  <a:lnTo>
                    <a:pt x="46789" y="1460500"/>
                  </a:lnTo>
                  <a:cubicBezTo>
                    <a:pt x="20948" y="1460500"/>
                    <a:pt x="0" y="1439552"/>
                    <a:pt x="0" y="1413711"/>
                  </a:cubicBezTo>
                  <a:lnTo>
                    <a:pt x="0" y="46789"/>
                  </a:lnTo>
                  <a:cubicBezTo>
                    <a:pt x="0" y="20948"/>
                    <a:pt x="20948" y="0"/>
                    <a:pt x="4678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4826000" cy="145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Dynamic MLFQ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0" y="2381250"/>
            <a:ext cx="3619500" cy="1095375"/>
            <a:chOff x="0" y="0"/>
            <a:chExt cx="4826000" cy="1460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4826000">
                  <a:moveTo>
                    <a:pt x="46789" y="0"/>
                  </a:moveTo>
                  <a:lnTo>
                    <a:pt x="4779211" y="0"/>
                  </a:lnTo>
                  <a:cubicBezTo>
                    <a:pt x="4805052" y="0"/>
                    <a:pt x="4826000" y="20948"/>
                    <a:pt x="4826000" y="46789"/>
                  </a:cubicBezTo>
                  <a:lnTo>
                    <a:pt x="4826000" y="1413711"/>
                  </a:lnTo>
                  <a:cubicBezTo>
                    <a:pt x="4826000" y="1439552"/>
                    <a:pt x="4805052" y="1460500"/>
                    <a:pt x="4779211" y="1460500"/>
                  </a:cubicBezTo>
                  <a:lnTo>
                    <a:pt x="46789" y="1460500"/>
                  </a:lnTo>
                  <a:cubicBezTo>
                    <a:pt x="20948" y="1460500"/>
                    <a:pt x="0" y="1439552"/>
                    <a:pt x="0" y="1413711"/>
                  </a:cubicBezTo>
                  <a:lnTo>
                    <a:pt x="0" y="46789"/>
                  </a:lnTo>
                  <a:cubicBezTo>
                    <a:pt x="0" y="20948"/>
                    <a:pt x="20948" y="0"/>
                    <a:pt x="4678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4826000" cy="145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Aging MLFQ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16000" y="2381250"/>
            <a:ext cx="3619500" cy="1095375"/>
            <a:chOff x="0" y="0"/>
            <a:chExt cx="4826000" cy="1460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26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4826000">
                  <a:moveTo>
                    <a:pt x="46789" y="0"/>
                  </a:moveTo>
                  <a:lnTo>
                    <a:pt x="4779211" y="0"/>
                  </a:lnTo>
                  <a:cubicBezTo>
                    <a:pt x="4805052" y="0"/>
                    <a:pt x="4826000" y="20948"/>
                    <a:pt x="4826000" y="46789"/>
                  </a:cubicBezTo>
                  <a:lnTo>
                    <a:pt x="4826000" y="1413711"/>
                  </a:lnTo>
                  <a:cubicBezTo>
                    <a:pt x="4826000" y="1439552"/>
                    <a:pt x="4805052" y="1460500"/>
                    <a:pt x="4779211" y="1460500"/>
                  </a:cubicBezTo>
                  <a:lnTo>
                    <a:pt x="46789" y="1460500"/>
                  </a:lnTo>
                  <a:cubicBezTo>
                    <a:pt x="20948" y="1460500"/>
                    <a:pt x="0" y="1439552"/>
                    <a:pt x="0" y="1413711"/>
                  </a:cubicBezTo>
                  <a:lnTo>
                    <a:pt x="0" y="46789"/>
                  </a:lnTo>
                  <a:cubicBezTo>
                    <a:pt x="0" y="20948"/>
                    <a:pt x="20948" y="0"/>
                    <a:pt x="46789" y="0"/>
                  </a:cubicBezTo>
                  <a:close/>
                </a:path>
              </a:pathLst>
            </a:custGeom>
            <a:solidFill>
              <a:srgbClr val="E8F5F5"/>
            </a:solidFill>
            <a:ln w="19050" cap="sq">
              <a:solidFill>
                <a:srgbClr val="0F7C8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4826000" cy="145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102A4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DMFQ-A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524500" y="4057650"/>
            <a:ext cx="723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0F7C8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IDENTICAL SEEDED WORKLOADS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4524375"/>
            <a:ext cx="95250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4"/>
              </a:lnSpc>
            </a:pPr>
            <a:r>
              <a:rPr lang="en-US" sz="2925" b="true">
                <a:solidFill>
                  <a:srgbClr val="102A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bursts  ×  contention  ×  arrival patterns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500" y="6134100"/>
            <a:ext cx="6667500" cy="22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4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waiting</a:t>
            </a:r>
          </a:p>
          <a:p>
            <a:pPr algn="l">
              <a:lnSpc>
                <a:spcPts val="3588"/>
              </a:lnSpc>
            </a:pPr>
            <a:r>
              <a:rPr lang="en-US" sz="24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Turnaround</a:t>
            </a:r>
          </a:p>
          <a:p>
            <a:pPr algn="l">
              <a:lnSpc>
                <a:spcPts val="3588"/>
              </a:lnSpc>
            </a:pPr>
            <a:r>
              <a:rPr lang="en-US" sz="24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First response</a:t>
            </a:r>
          </a:p>
          <a:p>
            <a:pPr algn="l">
              <a:lnSpc>
                <a:spcPts val="3588"/>
              </a:lnSpc>
            </a:pPr>
            <a:r>
              <a:rPr lang="en-US" sz="24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Max continuous READY wait</a:t>
            </a:r>
          </a:p>
          <a:p>
            <a:pPr algn="l">
              <a:lnSpc>
                <a:spcPts val="3588"/>
              </a:lnSpc>
            </a:pPr>
            <a:r>
              <a:rPr lang="en-US" sz="24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Context switches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9750" y="6048375"/>
            <a:ext cx="7239000" cy="2667000"/>
            <a:chOff x="0" y="0"/>
            <a:chExt cx="9652000" cy="3556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652000" cy="3556000"/>
              <a:chOff x="0" y="0"/>
              <a:chExt cx="9652000" cy="355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652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02A4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9652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762000" y="717550"/>
              <a:ext cx="8255000" cy="1278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4"/>
                </a:lnSpc>
              </a:pPr>
              <a:r>
                <a:rPr lang="en-US" sz="33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Interpret trade-offs—</a:t>
              </a:r>
            </a:p>
            <a:p>
              <a:pPr algn="l">
                <a:lnSpc>
                  <a:spcPts val="3794"/>
                </a:lnSpc>
              </a:pPr>
              <a:r>
                <a:rPr lang="en-US" sz="33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 guaranteed improvements.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The Same Problem Now Runs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Every resource below is shared by jobs whose length is unknown until they finish.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331720"/>
          <a:ext cx="16184880" cy="56327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4023360"/>
                <a:gridCol w="4434840"/>
                <a:gridCol w="4434840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0F7C82"/>
                          </a:solidFill>
                          <a:latin typeface="Source Sans 3 Bold"/>
                        </a:rPr>
                        <a:t/>
                      </a:r>
                    </a:p>
                  </a:txBody>
                  <a:tcPr marL="164592" marR="164592" marT="73152" marB="73152" anchor="ctr">
                    <a:solidFill>
                      <a:srgbClr val="F7F5E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0F7C82"/>
                          </a:solidFill>
                          <a:latin typeface="Source Sans 3 Bold"/>
                        </a:rPr>
                        <a:t>CPU (OUR CORE STUDY)</a:t>
                      </a:r>
                    </a:p>
                  </a:txBody>
                  <a:tcPr marL="164592" marR="164592" marT="73152" marB="73152" anchor="ctr">
                    <a:solidFill>
                      <a:srgbClr val="F7F5E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0F7C82"/>
                          </a:solidFill>
                          <a:latin typeface="Source Sans 3 Bold"/>
                        </a:rPr>
                        <a:t>LLM INFERENCE SERVING</a:t>
                      </a:r>
                    </a:p>
                  </a:txBody>
                  <a:tcPr marL="164592" marR="164592" marT="73152" marB="73152" anchor="ctr">
                    <a:solidFill>
                      <a:srgbClr val="F7F5E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0F7C82"/>
                          </a:solidFill>
                          <a:latin typeface="Source Sans 3 Bold"/>
                        </a:rPr>
                        <a:t>GPU TRAINING CLUSTER</a:t>
                      </a:r>
                    </a:p>
                  </a:txBody>
                  <a:tcPr marL="164592" marR="164592" marT="73152" marB="73152" anchor="ctr">
                    <a:solidFill>
                      <a:srgbClr val="F7F5E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102A43"/>
                          </a:solidFill>
                          <a:latin typeface="Source Sans 3 Bold"/>
                        </a:rPr>
                        <a:t>Unit of work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Process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Request: prompt → output tokens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Training job on 1–16 GPUs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102A43"/>
                          </a:solidFill>
                          <a:latin typeface="Source Sans 3 Bold"/>
                        </a:rPr>
                        <a:t>Unknown in advance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CPU burst length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How many tokens it will generate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Time to converge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102A43"/>
                          </a:solidFill>
                          <a:latin typeface="Source Sans 3 Bold"/>
                        </a:rPr>
                        <a:t>Quantum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Time slice (ms)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Token budget per level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Attained GPU-minutes per level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102A43"/>
                          </a:solidFill>
                          <a:latin typeface="Source Sans 3 Bold"/>
                        </a:rPr>
                        <a:t>Context switch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Save registers / cache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Swap KV cache to host memory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Checkpoint, then restore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102A43"/>
                          </a:solidFill>
                          <a:latin typeface="Source Sans 3 Bold"/>
                        </a:rPr>
                        <a:t>Starvation looks like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Process never dispatched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Long answer freezes mid-stream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Big job queued for hours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102A43"/>
                          </a:solidFill>
                          <a:latin typeface="Source Sans 3 Bold"/>
                        </a:rPr>
                        <a:t>First response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First dispatch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Time to first token (TTFT)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43B53"/>
                          </a:solidFill>
                          <a:latin typeface="Source Sans 3"/>
                        </a:rPr>
                        <a:t>Queueing delay to start</a:t>
                      </a:r>
                    </a:p>
                  </a:txBody>
                  <a:tcPr marL="164592" marR="164592" marT="73152" marB="73152" anchor="ctr">
                    <a:solidFill>
                      <a:srgbClr val="E8F5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51560" y="8458200"/>
            <a:ext cx="16184880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8458200"/>
            <a:ext cx="1545335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25" b="1">
                <a:solidFill>
                  <a:srgbClr val="FFFFFF"/>
                </a:solidFill>
                <a:latin typeface="IBM Plex Sans Bold"/>
              </a:rPr>
              <a:t>One scheduler, three resources: only the unit of the quantum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Literature Review II: Schedulers in AI Systems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51560" y="1828800"/>
          <a:ext cx="16184880" cy="6272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31920"/>
                <a:gridCol w="6400800"/>
                <a:gridCol w="5852160"/>
              </a:tblGrid>
              <a:tr h="896112"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0F7C82"/>
                          </a:solidFill>
                          <a:latin typeface="Source Sans 3 Bold"/>
                        </a:rPr>
                        <a:t>SYSTEM</a:t>
                      </a:r>
                    </a:p>
                  </a:txBody>
                  <a:tcPr marL="164592" marR="164592" marT="73152" marB="73152" anchor="ctr">
                    <a:solidFill>
                      <a:srgbClr val="F7F5E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0F7C82"/>
                          </a:solidFill>
                          <a:latin typeface="Source Sans 3 Bold"/>
                        </a:rPr>
                        <a:t>SCHEDULING IDEA</a:t>
                      </a:r>
                    </a:p>
                  </a:txBody>
                  <a:tcPr marL="164592" marR="164592" marT="73152" marB="73152" anchor="ctr">
                    <a:solidFill>
                      <a:srgbClr val="F7F5E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0F7C82"/>
                          </a:solidFill>
                          <a:latin typeface="Source Sans 3 Bold"/>
                        </a:rPr>
                        <a:t>OPEN QUESTION FOR DMFQ-A</a:t>
                      </a:r>
                    </a:p>
                  </a:txBody>
                  <a:tcPr marL="164592" marR="164592" marT="73152" marB="73152" anchor="ctr">
                    <a:solidFill>
                      <a:srgbClr val="F7F5E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02A43"/>
                          </a:solidFill>
                          <a:latin typeface="Source Sans 3 Bold"/>
                        </a:rPr>
                        <a:t>FastServe [6] · NSDI ’26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Skip-join MLFQ per output token; starved jobs promoted after a fixed α (default 300 ms)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Quanta double per level and α is fixed — neither reacts to load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02A43"/>
                          </a:solidFill>
                          <a:latin typeface="Source Sans 3 Bold"/>
                        </a:rPr>
                        <a:t>Tiresias [7] · NSDI ’19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2-queue LAS on attained GPU-time; PromoteKnob rescues long waiters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Knob trades mean JCT for fairness by hand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02A43"/>
                          </a:solidFill>
                          <a:latin typeface="Source Sans 3 Bold"/>
                        </a:rPr>
                        <a:t>Orca [8] · OSDI ’22, vLLM [9] · SOSP ’23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Iteration-level batching; paged KV cache; requests served first come, first served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FCFS order → head-of-line blocking at high load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02A43"/>
                          </a:solidFill>
                          <a:latin typeface="Source Sans 3 Bold"/>
                        </a:rPr>
                        <a:t>VTC [10] · OSDI ’24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Fair share across clients, counted in tokens served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Fair across tenants, not across request lengths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02A43"/>
                          </a:solidFill>
                          <a:latin typeface="Source Sans 3 Bold"/>
                        </a:rPr>
                        <a:t>Learning to Rank [11] · NeurIPS ’24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Predicts relative output length to approximate shortest-job-first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Needs a trained predictor per model and workload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02A43"/>
                          </a:solidFill>
                          <a:latin typeface="Source Sans 3 Bold"/>
                        </a:rPr>
                        <a:t>PIAS [12] · NSDI ’15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MLFQ in datacenter switches; flows demoted by bytes sent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43B53"/>
                          </a:solidFill>
                          <a:latin typeface="Source Sans 3"/>
                        </a:rPr>
                        <a:t>Same unknown-size problem, network domain</a:t>
                      </a:r>
                    </a:p>
                  </a:txBody>
                  <a:tcPr marL="164592" marR="164592" marT="73152" marB="73152" anchor="ctr">
                    <a:solidFill>
                      <a:srgbClr val="EEF2F5"/>
                    </a:solidFill>
                    <a:lnL w="9525">
                      <a:solidFill>
                        <a:srgbClr val="D8E2E8"/>
                      </a:solidFill>
                    </a:lnL>
                    <a:lnR w="9525">
                      <a:solidFill>
                        <a:srgbClr val="D8E2E8"/>
                      </a:solidFill>
                    </a:lnR>
                    <a:lnT w="9525">
                      <a:solidFill>
                        <a:srgbClr val="D8E2E8"/>
                      </a:solidFill>
                    </a:lnT>
                    <a:lnB w="9525">
                      <a:solidFill>
                        <a:srgbClr val="D8E2E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051560" y="8366760"/>
            <a:ext cx="16184880" cy="868680"/>
          </a:xfrm>
          <a:prstGeom prst="rect">
            <a:avLst/>
          </a:prstGeom>
          <a:solidFill>
            <a:srgbClr val="B6E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8366760"/>
            <a:ext cx="1545335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25" b="1">
                <a:solidFill>
                  <a:srgbClr val="102A43"/>
                </a:solidFill>
                <a:latin typeface="IBM Plex Sans Bold"/>
              </a:rPr>
              <a:t>MLFQ with a fixed aging knob already runs in AI systems research. Untested: load-adaptive quanta.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DMFQ-A Inside an LLM Serving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Iteration-level scheduling: every decoding step, the scheduler refills the batch from the highest non-empty queue.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3246120"/>
            <a:ext cx="2743200" cy="173736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3832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Source Sans 3 Bold"/>
              </a:rPr>
              <a:t>Requests arrive</a:t>
            </a:r>
          </a:p>
          <a:p>
            <a:pPr algn="l"/>
            <a:r>
              <a:rPr sz="1700" b="0">
                <a:solidFill>
                  <a:srgbClr val="627D98"/>
                </a:solidFill>
                <a:latin typeface="Source Sans 3"/>
              </a:rPr>
              <a:t>prompt known, output length unknown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14600"/>
            <a:ext cx="4937760" cy="1051560"/>
          </a:xfrm>
          <a:prstGeom prst="rect">
            <a:avLst/>
          </a:prstGeom>
          <a:solidFill>
            <a:srgbClr val="E8F5F5"/>
          </a:solidFill>
          <a:ln w="15875">
            <a:solidFill>
              <a:srgbClr val="0F7C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2624328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IBM Plex Sans Bold"/>
              </a:rPr>
              <a:t>Q0  ·  16 tokens</a:t>
            </a:r>
          </a:p>
          <a:p>
            <a:pPr algn="l"/>
            <a:r>
              <a:rPr sz="1750" b="0">
                <a:solidFill>
                  <a:srgbClr val="627D98"/>
                </a:solidFill>
                <a:latin typeface="Source Sans 3"/>
              </a:rPr>
              <a:t>fixed budget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023360"/>
            <a:ext cx="493776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C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4133088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IBM Plex Sans Bold"/>
              </a:rPr>
              <a:t>Q1  ·  32 → 64 tokens</a:t>
            </a:r>
          </a:p>
          <a:p>
            <a:pPr algn="l"/>
            <a:r>
              <a:rPr sz="1750" b="0">
                <a:solidFill>
                  <a:srgbClr val="627D98"/>
                </a:solidFill>
                <a:latin typeface="Source Sans 3"/>
              </a:rPr>
              <a:t>grows with waiting queue 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5532120"/>
            <a:ext cx="493776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C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5641848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IBM Plex Sans Bold"/>
              </a:rPr>
              <a:t>Q2  ·  64 → 128 tokens</a:t>
            </a:r>
          </a:p>
          <a:p>
            <a:pPr algn="l"/>
            <a:r>
              <a:rPr sz="1750" b="0">
                <a:solidFill>
                  <a:srgbClr val="627D98"/>
                </a:solidFill>
                <a:latin typeface="Source Sans 3"/>
              </a:rPr>
              <a:t>grows with waiting queue 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794760" y="3044952"/>
            <a:ext cx="960120" cy="1069848"/>
          </a:xfrm>
          <a:prstGeom prst="line">
            <a:avLst/>
          </a:prstGeom>
          <a:ln w="25400">
            <a:solidFill>
              <a:srgbClr val="0F7C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60720" y="3566160"/>
            <a:ext cx="0" cy="457200"/>
          </a:xfrm>
          <a:prstGeom prst="line">
            <a:avLst/>
          </a:prstGeom>
          <a:ln w="28575">
            <a:solidFill>
              <a:srgbClr val="0F7C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595360" y="3566160"/>
            <a:ext cx="0" cy="457200"/>
          </a:xfrm>
          <a:prstGeom prst="line">
            <a:avLst/>
          </a:prstGeom>
          <a:ln w="28575">
            <a:solidFill>
              <a:srgbClr val="D69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5074920"/>
            <a:ext cx="0" cy="457200"/>
          </a:xfrm>
          <a:prstGeom prst="line">
            <a:avLst/>
          </a:prstGeom>
          <a:ln w="28575">
            <a:solidFill>
              <a:srgbClr val="0F7C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595360" y="5074920"/>
            <a:ext cx="0" cy="457200"/>
          </a:xfrm>
          <a:prstGeom prst="line">
            <a:avLst/>
          </a:prstGeom>
          <a:ln w="28575">
            <a:solidFill>
              <a:srgbClr val="D69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97880" y="363016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7C82"/>
                </a:solidFill>
                <a:latin typeface="Source Sans 3 Bold"/>
              </a:rPr>
              <a:t>demote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3016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9A6B12"/>
                </a:solidFill>
                <a:latin typeface="Source Sans 3 Bold"/>
              </a:rPr>
              <a:t>age 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0" y="2971800"/>
            <a:ext cx="3429000" cy="29260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3154680"/>
            <a:ext cx="29260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IBM Plex Sans Bold"/>
              </a:rPr>
              <a:t>Iteration-level batch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B6E3EA"/>
                </a:solidFill>
                <a:latin typeface="Source Sans 3"/>
              </a:rPr>
              <a:t>16 KV-cache slots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B6E3EA"/>
                </a:solidFill>
                <a:latin typeface="Source Sans 3"/>
              </a:rPr>
              <a:t>one token per request per step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0" y="3044952"/>
            <a:ext cx="1280160" cy="1389888"/>
          </a:xfrm>
          <a:prstGeom prst="line">
            <a:avLst/>
          </a:prstGeom>
          <a:ln w="19050">
            <a:solidFill>
              <a:srgbClr val="627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92640" y="4434840"/>
            <a:ext cx="1280160" cy="118872"/>
          </a:xfrm>
          <a:prstGeom prst="line">
            <a:avLst/>
          </a:prstGeom>
          <a:ln w="19050">
            <a:solidFill>
              <a:srgbClr val="627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92640" y="4434840"/>
            <a:ext cx="1280160" cy="1627632"/>
          </a:xfrm>
          <a:prstGeom prst="line">
            <a:avLst/>
          </a:prstGeom>
          <a:ln w="19050">
            <a:solidFill>
              <a:srgbClr val="627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5224759" y="3611880"/>
            <a:ext cx="201168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C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361920" y="3749039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Source Sans 3 Bold"/>
              </a:rPr>
              <a:t>Token stream</a:t>
            </a:r>
          </a:p>
          <a:p>
            <a:pPr algn="l"/>
            <a:r>
              <a:rPr sz="1700" b="0">
                <a:solidFill>
                  <a:srgbClr val="627D98"/>
                </a:solidFill>
                <a:latin typeface="Source Sans 3"/>
              </a:rPr>
              <a:t>to the user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401800" y="4434840"/>
            <a:ext cx="822959" cy="0"/>
          </a:xfrm>
          <a:prstGeom prst="line">
            <a:avLst/>
          </a:prstGeom>
          <a:ln w="25400">
            <a:solidFill>
              <a:srgbClr val="0F7C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51560" y="7086600"/>
            <a:ext cx="5029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DEMOTION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7498079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43B53"/>
                </a:solidFill>
                <a:latin typeface="Source Sans 3"/>
              </a:rPr>
              <a:t>A request that spends its token budget drops one level, so long generations sink below new chats.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7086600"/>
            <a:ext cx="5029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9A6B12"/>
                </a:solidFill>
                <a:latin typeface="Source Sans 3 Bold"/>
              </a:rPr>
              <a:t>SELECTIVE 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7498079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43B53"/>
                </a:solidFill>
                <a:latin typeface="Source Sans 3"/>
              </a:rPr>
              <a:t>A request stalled 1.5 s (Q1) or 3 s (Q2) moves up one level, so no stream freezes for long.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24360" y="7086600"/>
            <a:ext cx="5029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ADAPTIVE QUANTA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24360" y="7498079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43B53"/>
                </a:solidFill>
                <a:latin typeface="Source Sans 3"/>
              </a:rPr>
              <a:t>q = min(2b, b + ⌊b·min(R, 8)/8⌋). Bigger budgets under load mean fewer evictions and KV swaps.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One Long Request, Two Schedulers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Request #550 (584 output tokens) in the same 2.0 req/s workload. Thick bars: generating; thin grey: waiting.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286000"/>
            <a:ext cx="16184880" cy="6080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l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77440"/>
            <a:ext cx="15819120" cy="59554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8595360"/>
            <a:ext cx="1618488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8595360"/>
            <a:ext cx="154533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25" b="1">
                <a:solidFill>
                  <a:srgbClr val="FFFFFF"/>
                </a:solidFill>
                <a:latin typeface="IBM Plex Sans Bold"/>
              </a:rPr>
              <a:t>Aging lifts the stalled request back to Q1 twice; bigger Q2 budgets mean fewer, longer turns.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DMFQ-A in a GPU Training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Same rules, coarser clock: the quantum is attained GPU-minutes, and a preemption is a checkpoint.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5943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64-GPU CLUSTER · ILLUSTRATIVE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834640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28216" y="2834640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04872" y="2834640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81527" y="2834640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58183" y="2834640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834640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1496" y="2834640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88152" y="2834640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3511296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28216" y="3511296"/>
            <a:ext cx="566928" cy="566928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04872" y="3511296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81527" y="3511296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58183" y="3511296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3511296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3511296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88152" y="3511296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4187952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28216" y="4187952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04872" y="4187952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81527" y="4187952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58183" y="4187952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4187952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1496" y="4187952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88152" y="4187952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1560" y="4864608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28216" y="4864608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04872" y="4864608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81527" y="4864608"/>
            <a:ext cx="566928" cy="566928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58183" y="4864608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4864608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11496" y="4864608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88152" y="4864608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51560" y="5541264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28216" y="5541264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04872" y="5541264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81527" y="5541264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58183" y="5541264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34840" y="5541264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11496" y="5541264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88152" y="5541264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51560" y="6217920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28216" y="6217920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04872" y="6217920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81527" y="6217920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58183" y="6217920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34840" y="6217920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11496" y="6217920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88152" y="6217920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1560" y="6894575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28216" y="6894575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04872" y="6894575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81527" y="6894575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58183" y="6894575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34840" y="6894575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11496" y="6894575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88152" y="6894575"/>
            <a:ext cx="56692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1560" y="7571231"/>
            <a:ext cx="566928" cy="56692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28216" y="7571231"/>
            <a:ext cx="566928" cy="56692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404872" y="7571231"/>
            <a:ext cx="566928" cy="56692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081527" y="7571231"/>
            <a:ext cx="566928" cy="56692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758183" y="7571231"/>
            <a:ext cx="566928" cy="56692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434840" y="7571231"/>
            <a:ext cx="566928" cy="56692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111496" y="7571231"/>
            <a:ext cx="566928" cy="56692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88152" y="7571231"/>
            <a:ext cx="566928" cy="56692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1560" y="8366760"/>
            <a:ext cx="274320" cy="274320"/>
          </a:xfrm>
          <a:prstGeom prst="rect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17320" y="83210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43B53"/>
                </a:solidFill>
                <a:latin typeface="Source Sans 3"/>
              </a:rPr>
              <a:t>Q0 job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23160" y="8366760"/>
            <a:ext cx="274320" cy="274320"/>
          </a:xfrm>
          <a:prstGeom prst="rect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88920" y="83210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43B53"/>
                </a:solidFill>
                <a:latin typeface="Source Sans 3"/>
              </a:rPr>
              <a:t>Q1 job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94760" y="8366760"/>
            <a:ext cx="274320" cy="2743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60520" y="83210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43B53"/>
                </a:solidFill>
                <a:latin typeface="Source Sans 3"/>
              </a:rPr>
              <a:t>Q2 job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66360" y="8366760"/>
            <a:ext cx="274320" cy="27432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32120" y="83210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43B53"/>
                </a:solidFill>
                <a:latin typeface="Source Sans 3"/>
              </a:rPr>
              <a:t>idle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49440" y="2331720"/>
            <a:ext cx="4983480" cy="2926080"/>
          </a:xfrm>
          <a:prstGeom prst="rect">
            <a:avLst/>
          </a:prstGeom>
          <a:solidFill>
            <a:srgbClr val="E8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69479" y="2606039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QUANTUM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79" y="3063239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>
                <a:solidFill>
                  <a:srgbClr val="102A43"/>
                </a:solidFill>
                <a:latin typeface="IBM Plex Mono"/>
              </a:rPr>
              <a:t>Q0 60 · Q1 240→480 · Q2 960→1920 GPU-min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9479" y="393192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43B53"/>
                </a:solidFill>
                <a:latin typeface="Source Sans 3"/>
              </a:rPr>
              <a:t>A 16-GPU job uses up Q0 in under 4 minutes; a 1-GPU job gets an hour.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207240" y="2331720"/>
            <a:ext cx="4983480" cy="29260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527280" y="2606039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PREEMPTION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27280" y="3063239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>
                <a:solidFill>
                  <a:srgbClr val="102A43"/>
                </a:solidFill>
                <a:latin typeface="IBM Plex Mono"/>
              </a:rPr>
              <a:t>checkpoint + 2 min restore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527280" y="393192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43B53"/>
                </a:solidFill>
                <a:latin typeface="Source Sans 3"/>
              </a:rPr>
              <a:t>The cluster’s context switch — expensive, so it is counted.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49440" y="5577840"/>
            <a:ext cx="4983480" cy="29260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69479" y="5852159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AGING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69479" y="6309359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>
                <a:solidFill>
                  <a:srgbClr val="102A43"/>
                </a:solidFill>
                <a:latin typeface="IBM Plex Mono"/>
              </a:rPr>
              <a:t>Q1 → Q0 after 1 h · Q2 → Q1 after 2 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69479" y="717804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43B53"/>
                </a:solidFill>
                <a:latin typeface="Source Sans 3"/>
              </a:rPr>
              <a:t>Like Tiresias’ PromoteKnob, but one level at a time.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207240" y="5577840"/>
            <a:ext cx="4983480" cy="2926080"/>
          </a:xfrm>
          <a:prstGeom prst="rect">
            <a:avLst/>
          </a:prstGeom>
          <a:solidFill>
            <a:srgbClr val="E8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527280" y="5852159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PLACEMENT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527280" y="6309359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>
                <a:solidFill>
                  <a:srgbClr val="102A43"/>
                </a:solidFill>
                <a:latin typeface="IBM Plex Mono"/>
              </a:rPr>
              <a:t>gang (all-or-nothing) on 64 GPUs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527280" y="717804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43B53"/>
                </a:solidFill>
                <a:latin typeface="Source Sans 3"/>
              </a:rPr>
              <a:t>Higher levels are placed first; smaller jobs backfill the gaps.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Application Architecture and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One policy core, three workload adapters, one multi-page web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423160"/>
            <a:ext cx="32918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C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53288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Source Sans 3 Bold"/>
              </a:rPr>
              <a:t>CPU processes</a:t>
            </a:r>
          </a:p>
          <a:p>
            <a:pPr algn="l"/>
            <a:r>
              <a:rPr sz="1500" b="0">
                <a:solidFill>
                  <a:srgbClr val="627D98"/>
                </a:solidFill>
                <a:latin typeface="Source Sans 3"/>
              </a:rPr>
              <a:t>CSV workloads → C11 engine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43400" y="2953512"/>
            <a:ext cx="822960" cy="1344168"/>
          </a:xfrm>
          <a:prstGeom prst="line">
            <a:avLst/>
          </a:prstGeom>
          <a:ln w="19050">
            <a:solidFill>
              <a:srgbClr val="627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51560" y="3749039"/>
            <a:ext cx="32918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C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85876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Source Sans 3 Bold"/>
              </a:rPr>
              <a:t>LLM requests</a:t>
            </a:r>
          </a:p>
          <a:p>
            <a:pPr algn="l"/>
            <a:r>
              <a:rPr sz="1500" b="0">
                <a:solidFill>
                  <a:srgbClr val="627D98"/>
                </a:solidFill>
                <a:latin typeface="Source Sans 3"/>
              </a:rPr>
              <a:t>prompt / output tokens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43400" y="4279392"/>
            <a:ext cx="822960" cy="18288"/>
          </a:xfrm>
          <a:prstGeom prst="line">
            <a:avLst/>
          </a:prstGeom>
          <a:ln w="19050">
            <a:solidFill>
              <a:srgbClr val="627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51560" y="5074920"/>
            <a:ext cx="32918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C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18464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Source Sans 3 Bold"/>
              </a:rPr>
              <a:t>GPU jobs</a:t>
            </a:r>
          </a:p>
          <a:p>
            <a:pPr algn="l"/>
            <a:r>
              <a:rPr sz="1500" b="0">
                <a:solidFill>
                  <a:srgbClr val="627D98"/>
                </a:solidFill>
                <a:latin typeface="Source Sans 3"/>
              </a:rPr>
              <a:t>GPUs × duration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343400" y="4297680"/>
            <a:ext cx="822960" cy="1307592"/>
          </a:xfrm>
          <a:prstGeom prst="line">
            <a:avLst/>
          </a:prstGeom>
          <a:ln w="19050">
            <a:solidFill>
              <a:srgbClr val="627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66360" y="3246120"/>
            <a:ext cx="3566160" cy="2103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383280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IBM Plex Sans Bold"/>
              </a:rPr>
              <a:t>Policy core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6E3EA"/>
                </a:solidFill>
                <a:latin typeface="Source Sans 3"/>
              </a:rPr>
              <a:t>FCFS · MLFQ · Dynamic · Aging · DMFQ-A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B6E3EA"/>
                </a:solidFill>
                <a:latin typeface="Source Sans 3"/>
              </a:rPr>
              <a:t>seeded, deterministic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4297680"/>
            <a:ext cx="731520" cy="0"/>
          </a:xfrm>
          <a:prstGeom prst="line">
            <a:avLst/>
          </a:prstGeom>
          <a:ln w="25400">
            <a:solidFill>
              <a:srgbClr val="0F7C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464040" y="3520440"/>
            <a:ext cx="265176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C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3639312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Source Sans 3 Bold"/>
              </a:rPr>
              <a:t>Event traces</a:t>
            </a:r>
          </a:p>
          <a:p>
            <a:pPr algn="l"/>
            <a:r>
              <a:rPr sz="1500" b="0">
                <a:solidFill>
                  <a:srgbClr val="627D98"/>
                </a:solidFill>
                <a:latin typeface="Source Sans 3"/>
              </a:rPr>
              <a:t>JSON + metrics CSV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115800" y="4297680"/>
            <a:ext cx="731520" cy="0"/>
          </a:xfrm>
          <a:prstGeom prst="line">
            <a:avLst/>
          </a:prstGeom>
          <a:ln w="25400">
            <a:solidFill>
              <a:srgbClr val="0F7C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2847320" y="2423160"/>
            <a:ext cx="4389120" cy="3749039"/>
          </a:xfrm>
          <a:prstGeom prst="rect">
            <a:avLst/>
          </a:prstGeom>
          <a:solidFill>
            <a:srgbClr val="FFFFFF"/>
          </a:solidFill>
          <a:ln w="25400">
            <a:solidFill>
              <a:srgbClr val="102A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0" y="2560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IBM Plex Sans Bold"/>
              </a:rPr>
              <a:t>Web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0" y="3154680"/>
            <a:ext cx="40233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43B53"/>
                </a:solidFill>
                <a:latin typeface="IBM Plex Mono"/>
              </a:rPr>
              <a:t>01  Overview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43B53"/>
                </a:solidFill>
                <a:latin typeface="IBM Plex Mono"/>
              </a:rPr>
              <a:t>02  Scheduler Lab (CPU)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43B53"/>
                </a:solidFill>
                <a:latin typeface="IBM Plex Mono"/>
              </a:rPr>
              <a:t>03  LLM Serving Live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43B53"/>
                </a:solidFill>
                <a:latin typeface="IBM Plex Mono"/>
              </a:rPr>
              <a:t>04  GPU Cluster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43B53"/>
                </a:solidFill>
                <a:latin typeface="IBM Plex Mono"/>
              </a:rPr>
              <a:t>05  Results Explorer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43B53"/>
                </a:solidFill>
                <a:latin typeface="IBM Plex Mono"/>
              </a:rPr>
              <a:t>06  Method &amp; 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812280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WHAT THE LIVE DEMO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726948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F7C82"/>
                </a:solidFill>
                <a:latin typeface="IBM Plex Mono"/>
              </a:rPr>
              <a:t>01  </a:t>
            </a:r>
            <a:r>
              <a:rPr sz="2000" b="1">
                <a:solidFill>
                  <a:srgbClr val="102A43"/>
                </a:solidFill>
                <a:latin typeface="Source Sans 3 Bold"/>
              </a:rPr>
              <a:t>Pick a load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43B53"/>
                </a:solidFill>
                <a:latin typeface="Source Sans 3"/>
              </a:rPr>
              <a:t>Slide arrival rate from calm to saturated.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726948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F7C82"/>
                </a:solidFill>
                <a:latin typeface="IBM Plex Mono"/>
              </a:rPr>
              <a:t>02  </a:t>
            </a:r>
            <a:r>
              <a:rPr sz="2000" b="1">
                <a:solidFill>
                  <a:srgbClr val="102A43"/>
                </a:solidFill>
                <a:latin typeface="Source Sans 3 Bold"/>
              </a:rPr>
              <a:t>Race the policies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43B53"/>
                </a:solidFill>
                <a:latin typeface="Source Sans 3"/>
              </a:rPr>
              <a:t>Same seeded requests stream under all five schedulers.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726948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F7C82"/>
                </a:solidFill>
                <a:latin typeface="IBM Plex Mono"/>
              </a:rPr>
              <a:t>03  </a:t>
            </a:r>
            <a:r>
              <a:rPr sz="2000" b="1">
                <a:solidFill>
                  <a:srgbClr val="102A43"/>
                </a:solidFill>
                <a:latin typeface="Source Sans 3 Bold"/>
              </a:rPr>
              <a:t>Watch the queues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43B53"/>
                </a:solidFill>
                <a:latin typeface="Source Sans 3"/>
              </a:rPr>
              <a:t>Q0–Q2 occupancy, KV slots and token streams animate per 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0" y="726948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F7C82"/>
                </a:solidFill>
                <a:latin typeface="IBM Plex Mono"/>
              </a:rPr>
              <a:t>04  </a:t>
            </a:r>
            <a:r>
              <a:rPr sz="2000" b="1">
                <a:solidFill>
                  <a:srgbClr val="102A43"/>
                </a:solidFill>
                <a:latin typeface="Source Sans 3 Bold"/>
              </a:rPr>
              <a:t>Read the trade-off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43B53"/>
                </a:solidFill>
                <a:latin typeface="Source Sans 3"/>
              </a:rPr>
              <a:t>TTFT, stalls and swaps update live; export the run as CSV.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Experimental Setup: AI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Python prototype of the same rules; seeded synthetic workloads; 5 seeds per load point, mean reported.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331720"/>
            <a:ext cx="7955279" cy="5806440"/>
          </a:xfrm>
          <a:prstGeom prst="rect">
            <a:avLst/>
          </a:prstGeom>
          <a:solidFill>
            <a:srgbClr val="E8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39" y="2606040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LLM SERVING TESTBED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39" y="3154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79" y="318211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1,500 per run · Poisson 1.4–2.2 req/s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395935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Mix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398678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80% chat (~120 tokens) · 20% long (~900)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39" y="476402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479145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16 KV slots · step 12 ms + 0.6 ms/seq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39" y="556869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55961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prefill 0.02 ms/token · swap 0.004 ms/token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39" y="637336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Quanta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640080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Q0 16 · Q1 32 · Q2 64 tokens (base)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39" y="7178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9" y="720547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Q1 → Q0 1.5 s · Q2 → Q1 3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331720"/>
            <a:ext cx="7955279" cy="580644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606040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GPU CLUSTER TESTBED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54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318211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64 GPUs · gang placement · 1-min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95935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98678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500 per run · Poisson 5–7 jobs/h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76402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Size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479145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1 / 2 / 4 / 8 / 16 GPUs (35/20/20/15/10%)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56869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559612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lognormal, median 60 min, heavy 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637336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Quanta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0080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Q0 60 · Q1 240 · Q2 960 GPU-min (base)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7178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Source Sans 3 Bold"/>
              </a:rPr>
              <a:t>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720547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IBM Plex Mono"/>
              </a:rPr>
              <a:t>Q1 → Q0 1 h · Q2 → Q1 2 h · restore 2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8458200"/>
            <a:ext cx="1618488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19" y="8458200"/>
            <a:ext cx="154533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25" b="1">
                <a:solidFill>
                  <a:srgbClr val="FFFFFF"/>
                </a:solidFill>
                <a:latin typeface="IBM Plex Sans Bold"/>
              </a:rPr>
              <a:t>Same five policies, same seeds per policy. Distributions are synthetic, not production traces.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LLM Serving: No More Head-of-Line Blocking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2.0 req/s (~90% load), mean of 5 seeds. Short = ≤ 512 output tokens.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331720"/>
            <a:ext cx="4114800" cy="60350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IBM Plex Sans Bold"/>
              </a:rPr>
              <a:t>110×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ource Sans 3 Bold"/>
              </a:rPr>
              <a:t>lower p99 time to first token for short chats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B6E3EA"/>
                </a:solidFill>
                <a:latin typeface="IBM Plex Mono"/>
              </a:rPr>
              <a:t>7.85 s → 0.07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4008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6E3EA"/>
                </a:solidFill>
                <a:latin typeface="Source Sans 3"/>
              </a:rPr>
              <a:t>All four MLFQ variants share this win; it comes from preemptive feedback queues.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331720"/>
            <a:ext cx="11750040" cy="6035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669280" y="2468880"/>
          <a:ext cx="5760720" cy="5760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1475720" y="2468880"/>
          <a:ext cx="5669280" cy="5760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1051560" y="8595360"/>
            <a:ext cx="161848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19" y="8595360"/>
            <a:ext cx="154533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25" b="1">
                <a:solidFill>
                  <a:srgbClr val="102A43"/>
                </a:solidFill>
                <a:latin typeface="IBM Plex Sans Bold"/>
              </a:rPr>
              <a:t>The price: long generations finish later — p99 41.8 s under FCFS vs 58.8 s under DMFQ-A.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LLM Serving: The Swap–Stall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2.0 req/s. Lower-left is better. Each point is one policy, mean of 5 seeds.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240280"/>
            <a:ext cx="9692640" cy="6812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E2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188720" y="2377440"/>
          <a:ext cx="9418320" cy="6583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11109960" y="2240280"/>
            <a:ext cx="6126480" cy="20574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2587752"/>
            <a:ext cx="237744" cy="237744"/>
          </a:xfrm>
          <a:prstGeom prst="ellipse">
            <a:avLst/>
          </a:prstGeom>
          <a:solidFill>
            <a:srgbClr val="32B6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0" y="2542032"/>
            <a:ext cx="5120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102A43"/>
                </a:solidFill>
                <a:latin typeface="Source Sans 3 Bold"/>
              </a:rPr>
              <a:t>DYNAMIC QUANTA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2953512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IBM Plex Sans Bold"/>
              </a:rPr>
              <a:t>33% fewer swaps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3456432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Source Sans 3"/>
              </a:rPr>
              <a:t>than MLFQ (3,247 → 2,168), but the longest stall grows to 4.3 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09960" y="4572000"/>
            <a:ext cx="6126480" cy="20574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0" y="4919472"/>
            <a:ext cx="237744" cy="237744"/>
          </a:xfrm>
          <a:prstGeom prst="ellipse">
            <a:avLst/>
          </a:prstGeom>
          <a:solidFill>
            <a:srgbClr val="D69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0" y="4873752"/>
            <a:ext cx="5120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102A43"/>
                </a:solidFill>
                <a:latin typeface="Source Sans 3 Bold"/>
              </a:rPr>
              <a:t>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5285232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IBM Plex Sans Bold"/>
              </a:rPr>
              <a:t>2.4 s longest 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5788152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Source Sans 3"/>
              </a:rPr>
              <a:t>the shortest of any policy, at the most swaps (3,255).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09960" y="6903720"/>
            <a:ext cx="6126480" cy="2057400"/>
          </a:xfrm>
          <a:prstGeom prst="rect">
            <a:avLst/>
          </a:prstGeom>
          <a:solidFill>
            <a:srgbClr val="E8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0000" y="7251192"/>
            <a:ext cx="237744" cy="237744"/>
          </a:xfrm>
          <a:prstGeom prst="ellipse">
            <a:avLst/>
          </a:prstGeom>
          <a:solidFill>
            <a:srgbClr val="0F7C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0" y="7205472"/>
            <a:ext cx="5120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102A43"/>
                </a:solidFill>
                <a:latin typeface="Source Sans 3 Bold"/>
              </a:rPr>
              <a:t>DMFQ-A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7616952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IBM Plex Sans Bold"/>
              </a:rPr>
              <a:t>29% fewer swaps, 2.9 s stall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8119871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43B53"/>
                </a:solidFill>
                <a:latin typeface="Source Sans 3"/>
              </a:rPr>
              <a:t>and the lowest mean latency per token (24.3 ms vs 25.8 ms for MLFQ).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LLM Serving: Behaviour Under Rising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Arrival rate 1.4 → 2.2 req/s (~60% load to saturation), mean of 5 seeds.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240280"/>
            <a:ext cx="16184880" cy="6172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234440" y="2377440"/>
          <a:ext cx="7818120" cy="5943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235440" y="2377440"/>
          <a:ext cx="7818120" cy="5943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1051560" y="8595360"/>
            <a:ext cx="1618488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8595360"/>
            <a:ext cx="154533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25" b="1">
                <a:solidFill>
                  <a:srgbClr val="FFFFFF"/>
                </a:solidFill>
                <a:latin typeface="IBM Plex Sans Bold"/>
              </a:rPr>
              <a:t>Near saturation, fixed aging thresholds thrash: DMFQ-A swaps 2.5× more than Dynamic MLFQ at 2.2 req/s.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GPU Cluster: Aging Bounds the Wait for Big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27D98"/>
                </a:solidFill>
                <a:latin typeface="Source Sans 3"/>
              </a:rPr>
              <a:t>6 jobs/h (~77% GPU utilisation), 500 jobs, mean of 5 seeds. Long = more than 960 GPU-minutes.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240280"/>
            <a:ext cx="16184880" cy="6172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E2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188720" y="2377440"/>
          <a:ext cx="5852160" cy="5897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086600" y="2377440"/>
          <a:ext cx="5029200" cy="5897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2161520" y="2377440"/>
          <a:ext cx="4983480" cy="5897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Rectangle 7"/>
          <p:cNvSpPr/>
          <p:nvPr/>
        </p:nvSpPr>
        <p:spPr>
          <a:xfrm>
            <a:off x="1051560" y="8595360"/>
            <a:ext cx="1618488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19" y="8595360"/>
            <a:ext cx="154533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25" b="1">
                <a:solidFill>
                  <a:srgbClr val="FFFFFF"/>
                </a:solidFill>
                <a:latin typeface="IBM Plex Sans Bold"/>
              </a:rPr>
              <a:t>Longest wait 24.3 h → 2.7 h, but here DMFQ-A preempts 63% more than MLFQ.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965960"/>
            <a:ext cx="7955279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39" y="233172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7C82"/>
                </a:solidFill>
                <a:latin typeface="IBM Plex Sans 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37744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700" b="1">
                <a:solidFill>
                  <a:srgbClr val="102A43"/>
                </a:solidFill>
                <a:latin typeface="IBM Plex Sans Bold"/>
              </a:rPr>
              <a:t>Feedback queues are the big win</a:t>
            </a:r>
          </a:p>
          <a:p>
            <a:pPr algn="l">
              <a:spcAft>
                <a:spcPts val="1400"/>
              </a:spcAft>
            </a:pPr>
            <a:r>
              <a:rPr sz="2250" b="0">
                <a:solidFill>
                  <a:srgbClr val="243B53"/>
                </a:solidFill>
                <a:latin typeface="Source Sans 3"/>
              </a:rPr>
              <a:t>110× lower p99 TTFT for chats; 5.5× lower mean JCT for short training jobs versus FCFS.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81160" y="1965960"/>
            <a:ext cx="7955279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233172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7C82"/>
                </a:solidFill>
                <a:latin typeface="IBM Plex Sans 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237744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700" b="1">
                <a:solidFill>
                  <a:srgbClr val="102A43"/>
                </a:solidFill>
                <a:latin typeface="IBM Plex Sans Bold"/>
              </a:rPr>
              <a:t>Aging bounds starvation</a:t>
            </a:r>
          </a:p>
          <a:p>
            <a:pPr algn="l">
              <a:spcAft>
                <a:spcPts val="1400"/>
              </a:spcAft>
            </a:pPr>
            <a:r>
              <a:rPr sz="2250" b="0">
                <a:solidFill>
                  <a:srgbClr val="243B53"/>
                </a:solidFill>
                <a:latin typeface="Source Sans 3"/>
              </a:rPr>
              <a:t>Longest wait for big GPU jobs falls from 24 h to 2.7 h; LLM stalls stay at 2.9 s vs 4.3 s without aging.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5577840"/>
            <a:ext cx="7955279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39" y="594360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7C82"/>
                </a:solidFill>
                <a:latin typeface="IBM Plex Sans Bol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98932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700" b="1">
                <a:solidFill>
                  <a:srgbClr val="102A43"/>
                </a:solidFill>
                <a:latin typeface="IBM Plex Sans Bold"/>
              </a:rPr>
              <a:t>Quantum × aging interaction depends on the workload</a:t>
            </a:r>
          </a:p>
          <a:p>
            <a:pPr algn="l">
              <a:spcAft>
                <a:spcPts val="1400"/>
              </a:spcAft>
            </a:pPr>
            <a:r>
              <a:rPr sz="2250" b="0">
                <a:solidFill>
                  <a:srgbClr val="243B53"/>
                </a:solidFill>
                <a:latin typeface="Source Sans 3"/>
              </a:rPr>
              <a:t>DMFQ-A cuts KV swaps by 29% in LLM serving, yet adds 63% preemptions in the GPU cluster.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5577840"/>
            <a:ext cx="7955279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594360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7C82"/>
                </a:solidFill>
                <a:latin typeface="IBM Plex Sans Bold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598932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700" b="1">
                <a:solidFill>
                  <a:srgbClr val="102A43"/>
                </a:solidFill>
                <a:latin typeface="IBM Plex Sans Bold"/>
              </a:rPr>
              <a:t>Fixed thresholds break near saturation</a:t>
            </a:r>
          </a:p>
          <a:p>
            <a:pPr algn="l">
              <a:spcAft>
                <a:spcPts val="1400"/>
              </a:spcAft>
            </a:pPr>
            <a:r>
              <a:rPr sz="2250" b="0">
                <a:solidFill>
                  <a:srgbClr val="243B53"/>
                </a:solidFill>
                <a:latin typeface="Source Sans 3"/>
              </a:rPr>
              <a:t>Aging thresholds tuned for normal load cause swap thrashing at peak, so the threshold must scale with load.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22376"/>
            <a:ext cx="1618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IBM Plex Sans Bold"/>
              </a:rPr>
              <a:t>Pitch: Scheduling for AI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591056"/>
            <a:ext cx="1554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B6E3EA"/>
                </a:solidFill>
                <a:latin typeface="Source Sans 3"/>
              </a:rPr>
              <a:t>Inference platforms and shared GPU clusters must keep chat fast without starving long jobs.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514600"/>
            <a:ext cx="5120640" cy="3931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39" y="28346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2B6C5"/>
                </a:solidFill>
                <a:latin typeface="IBM Plex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39" y="3337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BM Plex Sans Bold"/>
              </a:rPr>
              <a:t>LLM inference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39" y="4343400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D9E8F0"/>
                </a:solidFill>
                <a:latin typeface="Source Sans 3"/>
              </a:rPr>
              <a:t>Replace the FCFS waiting queue with DMFQ-A levels at each decoding step. Chat stays snappy; long answers keep streaming.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514600"/>
            <a:ext cx="5120640" cy="3931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8346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2B6C5"/>
                </a:solidFill>
                <a:latin typeface="IBM Plex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337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BM Plex Sans Bold"/>
              </a:rPr>
              <a:t>GPU cluster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343400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D9E8F0"/>
                </a:solidFill>
                <a:latin typeface="Source Sans 3"/>
              </a:rPr>
              <a:t>Use DMFQ-A as the job-queue policy: short experiments start in minutes, big training runs never wait a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32920" y="2514600"/>
            <a:ext cx="5120640" cy="3931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8346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2B6C5"/>
                </a:solidFill>
                <a:latin typeface="IBM Plex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0" y="3337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BM Plex Sans Bold"/>
              </a:rPr>
              <a:t>Campus and lab 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4343400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D9E8F0"/>
                </a:solidFill>
                <a:latin typeface="Source Sans 3"/>
              </a:rPr>
              <a:t>A handful of GPUs shared by many student jobs — the exact case where one big run can block a class.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903720"/>
            <a:ext cx="91440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32B6C5"/>
                </a:solidFill>
                <a:latin typeface="Source Sans 3 Bold"/>
              </a:rPr>
              <a:t>WHAT WE DELIVER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7406640"/>
            <a:ext cx="374903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ource Sans 3 Bold"/>
              </a:rPr>
              <a:t>Policy library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B6E3EA"/>
                </a:solidFill>
                <a:latin typeface="Source Sans 3"/>
              </a:rPr>
              <a:t>5 schedulers, one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7406640"/>
            <a:ext cx="374903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ource Sans 3 Bold"/>
              </a:rPr>
              <a:t>Simulator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B6E3EA"/>
                </a:solidFill>
                <a:latin typeface="Source Sans 3"/>
              </a:rPr>
              <a:t>seeded, reproducible 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7406640"/>
            <a:ext cx="374903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ource Sans 3 Bold"/>
              </a:rPr>
              <a:t>Operator dashboard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B6E3EA"/>
                </a:solidFill>
                <a:latin typeface="Source Sans 3"/>
              </a:rPr>
              <a:t>pick the trade-off before deploying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0" y="7406640"/>
            <a:ext cx="374903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ource Sans 3 Bold"/>
              </a:rPr>
              <a:t>Evidence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B6E3EA"/>
                </a:solidFill>
                <a:latin typeface="Source Sans 3"/>
              </a:rPr>
              <a:t>ablation on CPU, LLM and GPU workloads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0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606040"/>
            <a:ext cx="7498079" cy="594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600"/>
              </a:spcAft>
            </a:pPr>
            <a:r>
              <a:rPr sz="2500" b="0">
                <a:solidFill>
                  <a:srgbClr val="627D98"/>
                </a:solidFill>
                <a:latin typeface="Source Sans 3"/>
              </a:rPr>
              <a:t>—  </a:t>
            </a:r>
            <a:r>
              <a:rPr sz="2500" b="0">
                <a:solidFill>
                  <a:srgbClr val="243B53"/>
                </a:solidFill>
                <a:latin typeface="Source Sans 3"/>
              </a:rPr>
              <a:t>Synthetic workloads, not production traces</a:t>
            </a:r>
          </a:p>
          <a:p>
            <a:pPr algn="l">
              <a:spcAft>
                <a:spcPts val="2600"/>
              </a:spcAft>
            </a:pPr>
            <a:r>
              <a:rPr sz="2500" b="0">
                <a:solidFill>
                  <a:srgbClr val="627D98"/>
                </a:solidFill>
                <a:latin typeface="Source Sans 3"/>
              </a:rPr>
              <a:t>—  </a:t>
            </a:r>
            <a:r>
              <a:rPr sz="2500" b="0">
                <a:solidFill>
                  <a:srgbClr val="243B53"/>
                </a:solidFill>
                <a:latin typeface="Source Sans 3"/>
              </a:rPr>
              <a:t>Linear cost model for decode, prefill and swaps</a:t>
            </a:r>
          </a:p>
          <a:p>
            <a:pPr algn="l">
              <a:spcAft>
                <a:spcPts val="2600"/>
              </a:spcAft>
            </a:pPr>
            <a:r>
              <a:rPr sz="2500" b="0">
                <a:solidFill>
                  <a:srgbClr val="627D98"/>
                </a:solidFill>
                <a:latin typeface="Source Sans 3"/>
              </a:rPr>
              <a:t>—  </a:t>
            </a:r>
            <a:r>
              <a:rPr sz="2500" b="0">
                <a:solidFill>
                  <a:srgbClr val="243B53"/>
                </a:solidFill>
                <a:latin typeface="Source Sans 3"/>
              </a:rPr>
              <a:t>One serving node; no prefix caching or chunked prefill</a:t>
            </a:r>
          </a:p>
          <a:p>
            <a:pPr algn="l">
              <a:spcAft>
                <a:spcPts val="2600"/>
              </a:spcAft>
            </a:pPr>
            <a:r>
              <a:rPr sz="2500" b="0">
                <a:solidFill>
                  <a:srgbClr val="627D98"/>
                </a:solidFill>
                <a:latin typeface="Source Sans 3"/>
              </a:rPr>
              <a:t>—  </a:t>
            </a:r>
            <a:r>
              <a:rPr sz="2500" b="0">
                <a:solidFill>
                  <a:srgbClr val="243B53"/>
                </a:solidFill>
                <a:latin typeface="Source Sans 3"/>
              </a:rPr>
              <a:t>GPU placement ignores network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0" y="1874519"/>
            <a:ext cx="8183879" cy="6766560"/>
          </a:xfrm>
          <a:prstGeom prst="rect">
            <a:avLst/>
          </a:prstGeom>
          <a:solidFill>
            <a:srgbClr val="E8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94560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274320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A43"/>
                </a:solidFill>
                <a:latin typeface="Source Sans 3 Bold"/>
              </a:rPr>
              <a:t>Load-aware aging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scale the threshold with READY pressure, like the quanta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416052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A43"/>
                </a:solidFill>
                <a:latin typeface="Source Sans 3 Bold"/>
              </a:rPr>
              <a:t>SLO-aware thresholds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derive aging limits from a TTFT target (cf. FastServe 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557784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A43"/>
                </a:solidFill>
                <a:latin typeface="Source Sans 3 Bold"/>
              </a:rPr>
              <a:t>Real traces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replay public chat-length data and the Philly GPU trace [13]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699516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A43"/>
                </a:solidFill>
                <a:latin typeface="Source Sans 3 Bold"/>
              </a:rPr>
              <a:t>Engine prototype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plug the policy into an open-source serving engine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51560" y="722376"/>
            <a:ext cx="16194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1">
                <a:solidFill>
                  <a:srgbClr val="102A43"/>
                </a:solidFill>
                <a:latin typeface="IBM Plex Sans Bold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920240"/>
            <a:ext cx="77724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[1] R. H. Arpaci-Dusseau and A. C. Arpaci-Dusseau, Operating Systems: Three Easy Pieces, ch. 8, “Scheduling: The Multi-Level Feedback Queue,” 2018.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[2] F. J. Corbató, M. Merwin-Daggett and R. C. Daley, “An experimental time-sharing system,” in Proc. AFIPS Spring Joint Computer Conf., 1962.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[3] Behera et al., dynamic time quantum for MLFQ, 2012 — as cited in Review 1.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[4] “Developed Dynamic MLFQ with Aging Criteria,” preprint, 2020 — as cited in Review 1.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[5] L. W. C. Meing and D. R. Tandingan Jr., “Exploring MLFQ combinations and regression-based time quanta in scheduling algorithms,” JISEM, vol. 10, no. 6s, 2025.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[6] B. Wu et al., “FastServe: Iteration-level preemptive scheduling for large language model inference,” in Proc. USENIX NSDI, 2026, pp. 57–74.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[7] J. Gu et al., “Tiresias: A GPU cluster manager for distributed deep learning,” in Proc. USENIX NSDI, 2019, pp. 485–500.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1920240"/>
            <a:ext cx="77724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[8] G.-I. Yu et al., “Orca: A distributed serving system for transformer-based generative models,” in Proc. USENIX OSDI, 2022.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[9] W. Kwon et al., “Efficient memory management for large language model serving with PagedAttention,” in Proc. ACM SOSP, 2023.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[10] Y. Sheng et al., “Fairness in serving large language models,” in Proc. USENIX OSDI, 2024.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[11] Y. Fu et al., “Efficient LLM scheduling by learning to rank,” in Proc. NeurIPS, 2024, pp. 59006–59029.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[12] W. Bai et al., “Information-agnostic flow scheduling for commodity data centers,” in Proc. USENIX NSDI, 2015.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243B53"/>
                </a:solidFill>
                <a:latin typeface="Source Sans 3"/>
              </a:rPr>
              <a:t>[13] M. Jeon et al., “Analysis of large-scale multi-tenant GPU clusters for DNN training workloads,” in Proc. USENIX ATC, 2019.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048488" y="0"/>
            <a:ext cx="5239512" cy="10287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435608"/>
            <a:ext cx="8092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1">
                <a:solidFill>
                  <a:srgbClr val="0F7C82"/>
                </a:solidFill>
                <a:latin typeface="Source Sans 3 Bold"/>
              </a:rPr>
              <a:t>DMFQ-A  · 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291840"/>
            <a:ext cx="11430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0" b="1">
                <a:solidFill>
                  <a:srgbClr val="102A43"/>
                </a:solidFill>
                <a:latin typeface="IBM Plex Sans 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983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75" b="1">
                <a:solidFill>
                  <a:srgbClr val="0F7C82"/>
                </a:solidFill>
                <a:latin typeface="IBM Plex Sans Bold"/>
              </a:rPr>
              <a:t>Questions and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08975"/>
            <a:ext cx="8577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627D98"/>
                </a:solidFill>
                <a:latin typeface="Source Sans 3"/>
              </a:rPr>
              <a:t>Aman Golani</a:t>
            </a:r>
          </a:p>
          <a:p>
            <a:pPr algn="l"/>
            <a:r>
              <a:rPr sz="2025" b="0">
                <a:solidFill>
                  <a:srgbClr val="627D98"/>
                </a:solidFill>
                <a:latin typeface="Source Sans 3"/>
              </a:rPr>
              <a:t>Bhargav Mahanta</a:t>
            </a:r>
          </a:p>
          <a:p>
            <a:pPr algn="l"/>
            <a:r>
              <a:rPr sz="2025" b="0">
                <a:solidFill>
                  <a:srgbClr val="627D98"/>
                </a:solidFill>
                <a:latin typeface="Source Sans 3"/>
              </a:rPr>
              <a:t>Kriday Narula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DAHYJlAOQbw</dc:identifier>
  <dcterms:modified xsi:type="dcterms:W3CDTF">2011-08-01T06:04:30Z</dcterms:modified>
  <cp:revision>1</cp:revision>
  <dc:title>DMFQ-A Review 1</dc:title>
</cp:coreProperties>
</file>